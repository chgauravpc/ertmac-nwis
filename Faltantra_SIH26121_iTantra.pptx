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Calibri (MS)" panose="020B0604020202020204" charset="0"/>
      <p:regular r:id="rId11"/>
    </p:embeddedFont>
    <p:embeddedFont>
      <p:font typeface="Calibri (MS) Bold" panose="020B0604020202020204" charset="0"/>
      <p:regular r:id="rId12"/>
    </p:embeddedFont>
    <p:embeddedFont>
      <p:font typeface="Garamond Bold" panose="02020804030307010803" pitchFamily="18" charset="0"/>
      <p:regular r:id="rId13"/>
      <p:bold r:id="rId14"/>
    </p:embeddedFon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3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Chgauravpc/eRTMAC-NWIS" TargetMode="External"/><Relationship Id="rId5" Type="http://schemas.openxmlformats.org/officeDocument/2006/relationships/hyperlink" Target="https://ertmac-nwis2.vercel.app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towardsdatascience.com/parse-pdfs-for-rag-locally-with-docling-rich-tables-no-cloud-upload/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deepwiki.com/docling-project/docling/4.1-ocr-models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energistics.org/WITSML/WITSML_TOPICS/WITSML-000-149-0-C-sv2000.html" TargetMode="External"/><Relationship Id="rId11" Type="http://schemas.openxmlformats.org/officeDocument/2006/relationships/hyperlink" Target="https://www.oil-india.com/index.php/digitalfootprint" TargetMode="External"/><Relationship Id="rId5" Type="http://schemas.openxmlformats.org/officeDocument/2006/relationships/hyperlink" Target="https://iadc.org/wp-content/uploads/2018/05/IADC-Daily-Drilling-Report_RevA.pdf" TargetMode="External"/><Relationship Id="rId10" Type="http://schemas.openxmlformats.org/officeDocument/2006/relationships/hyperlink" Target="https://github.com/f0nzie/volve-drilling?utm_source=chatgpt.com" TargetMode="External"/><Relationship Id="rId4" Type="http://schemas.openxmlformats.org/officeDocument/2006/relationships/hyperlink" Target="https://iadc.org/wp-content/uploads/2019/04/DDR-Codes-2-13-2019.pdf" TargetMode="External"/><Relationship Id="rId9" Type="http://schemas.openxmlformats.org/officeDocument/2006/relationships/hyperlink" Target="https://modal.com/blog/8-top-open-source-ocr-models-compar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4321" y="2037817"/>
            <a:ext cx="8856993" cy="663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endParaRPr dirty="0"/>
          </a:p>
          <a:p>
            <a:pPr marL="542925" lvl="1" indent="-271462" algn="just">
              <a:lnSpc>
                <a:spcPts val="54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ID :- 26121	</a:t>
            </a:r>
          </a:p>
          <a:p>
            <a:pPr marL="542925" lvl="1" indent="-271462" algn="just">
              <a:lnSpc>
                <a:spcPts val="54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Title :- </a:t>
            </a:r>
            <a:r>
              <a:rPr lang="en-US" sz="30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eRTMAC</a:t>
            </a:r>
            <a:r>
              <a:rPr lang="en-US" sz="3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-NWIS (Nearby Wells Intelligence System): An </a:t>
            </a:r>
            <a:r>
              <a:rPr lang="en-US" sz="30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</a:t>
            </a:r>
            <a:r>
              <a:rPr lang="en-US" sz="3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Offset Well </a:t>
            </a:r>
            <a:r>
              <a:rPr lang="en-US" sz="30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Knowledge and Decision </a:t>
            </a:r>
            <a:r>
              <a:rPr lang="en-US" sz="3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Platform for Drilling Operations</a:t>
            </a:r>
          </a:p>
          <a:p>
            <a:pPr marL="542925" lvl="1" indent="-271462" algn="just">
              <a:lnSpc>
                <a:spcPts val="54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 :- Smart Automation</a:t>
            </a:r>
          </a:p>
          <a:p>
            <a:pPr marL="542925" lvl="1" indent="-271462" algn="just">
              <a:lnSpc>
                <a:spcPts val="54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PS Category :- Software</a:t>
            </a: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ID :- 161792</a:t>
            </a:r>
          </a:p>
          <a:p>
            <a:pPr marL="542925" lvl="1" indent="-271462" algn="just">
              <a:lnSpc>
                <a:spcPts val="54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 :- </a:t>
            </a:r>
            <a:r>
              <a:rPr lang="en-US" sz="30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Faltantra</a:t>
            </a:r>
            <a:endParaRPr lang="en-US" sz="30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224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1945600" cy="240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eRTMAC– NWIS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63438" y="174450"/>
            <a:ext cx="2215201" cy="1249099"/>
            <a:chOff x="0" y="0"/>
            <a:chExt cx="2953601" cy="16654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953639" cy="1665478"/>
            </a:xfrm>
            <a:custGeom>
              <a:avLst/>
              <a:gdLst/>
              <a:ahLst/>
              <a:cxnLst/>
              <a:rect l="l" t="t" r="r" b="b"/>
              <a:pathLst>
                <a:path w="2953639" h="1665478">
                  <a:moveTo>
                    <a:pt x="0" y="832739"/>
                  </a:moveTo>
                  <a:cubicBezTo>
                    <a:pt x="0" y="372872"/>
                    <a:pt x="661162" y="0"/>
                    <a:pt x="1476756" y="0"/>
                  </a:cubicBezTo>
                  <a:cubicBezTo>
                    <a:pt x="2292350" y="0"/>
                    <a:pt x="2953639" y="372872"/>
                    <a:pt x="2953639" y="832739"/>
                  </a:cubicBezTo>
                  <a:cubicBezTo>
                    <a:pt x="2953639" y="1292606"/>
                    <a:pt x="2292477" y="1665478"/>
                    <a:pt x="1476883" y="1665478"/>
                  </a:cubicBezTo>
                  <a:cubicBezTo>
                    <a:pt x="66128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953601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Faltantra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3438" y="1313666"/>
            <a:ext cx="8206601" cy="359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u="sng" dirty="0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</a:t>
            </a:r>
          </a:p>
          <a:p>
            <a:pPr marL="496562" lvl="1" indent="-248281" algn="l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drilling knowledge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is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scattered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across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WCRs, DDRs, mud logs, PDFs, 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geological records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making relevant past well experiences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difficult to retrieve quickly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96562" lvl="1" indent="-248281" algn="l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Nearby-well experiences are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difficult to correlate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with the active well’s depth and formation, while critical events such as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mud losses, kicks, stuck pipe, overpressure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and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cementing issues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remain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buried in records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 individual experience.</a:t>
            </a:r>
          </a:p>
          <a:p>
            <a:pPr algn="ctr">
              <a:lnSpc>
                <a:spcPts val="1679"/>
              </a:lnSpc>
            </a:pPr>
            <a:endParaRPr lang="en-US" sz="22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40872" y="4693062"/>
            <a:ext cx="177040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AutoShape 20"/>
          <p:cNvSpPr/>
          <p:nvPr/>
        </p:nvSpPr>
        <p:spPr>
          <a:xfrm>
            <a:off x="8670039" y="1525358"/>
            <a:ext cx="0" cy="313118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5173894" y="5143500"/>
            <a:ext cx="5857282" cy="3365216"/>
          </a:xfrm>
          <a:custGeom>
            <a:avLst/>
            <a:gdLst/>
            <a:ahLst/>
            <a:cxnLst/>
            <a:rect l="l" t="t" r="r" b="b"/>
            <a:pathLst>
              <a:path w="5857282" h="3365216">
                <a:moveTo>
                  <a:pt x="0" y="0"/>
                </a:moveTo>
                <a:lnTo>
                  <a:pt x="5857282" y="0"/>
                </a:lnTo>
                <a:lnTo>
                  <a:pt x="5857282" y="3365216"/>
                </a:lnTo>
                <a:lnTo>
                  <a:pt x="0" y="33652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7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463438" y="4769453"/>
            <a:ext cx="4710456" cy="475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u="sng" dirty="0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Unique Value Preposition</a:t>
            </a:r>
          </a:p>
          <a:p>
            <a:pPr marL="416242" lvl="1" indent="-208121" algn="l">
              <a:lnSpc>
                <a:spcPts val="2759"/>
              </a:lnSpc>
              <a:buFont typeface="Arial"/>
              <a:buChar char="•"/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Institutional Memory: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Converts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scattered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drilling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records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into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searchable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knowledge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16242" lvl="1" indent="-208121" algn="l">
              <a:lnSpc>
                <a:spcPts val="2759"/>
              </a:lnSpc>
              <a:buFont typeface="Arial"/>
              <a:buChar char="•"/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At-Depth Intelligence: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nearby-well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experiences with the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same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depth and formation.</a:t>
            </a:r>
          </a:p>
          <a:p>
            <a:pPr marL="416242" lvl="1" indent="-208121" algn="l">
              <a:lnSpc>
                <a:spcPts val="2759"/>
              </a:lnSpc>
              <a:buFont typeface="Arial"/>
              <a:buChar char="•"/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Proactive Risk Awareness: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Combines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data 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with live drilling conditions to identify </a:t>
            </a:r>
            <a:r>
              <a:rPr lang="en-US" sz="2299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risks 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before they are encountered</a:t>
            </a:r>
          </a:p>
          <a:p>
            <a:pPr algn="l">
              <a:lnSpc>
                <a:spcPts val="2700"/>
              </a:lnSpc>
            </a:pPr>
            <a:endParaRPr lang="en-US" sz="22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31176" y="4769453"/>
            <a:ext cx="6700929" cy="511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u="sng" dirty="0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  <a:p>
            <a:pPr marL="416243" lvl="1" indent="-208121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AI-powered document intelligence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extracts and structures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drilling events, formations, depths, and key experiences from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WCRs, DDRs, PDFs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and other historical records.</a:t>
            </a:r>
          </a:p>
          <a:p>
            <a:pPr marL="416243" lvl="1" indent="-208121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Interactive nearby-well intelligence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connects the active well with relevant offset wells using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geospatial, depth, and formation-based 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correlation.</a:t>
            </a:r>
          </a:p>
          <a:p>
            <a:pPr marL="416243" lvl="1" indent="-208121" algn="l">
              <a:lnSpc>
                <a:spcPts val="2760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Predictive risk &amp; alert engine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combines historical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evidence, ML models, physics-based signals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and live drilling data to highlight potential risks and provide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evidence-backed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recommendations to drilling engineers</a:t>
            </a:r>
          </a:p>
          <a:p>
            <a:pPr algn="l">
              <a:lnSpc>
                <a:spcPts val="2760"/>
              </a:lnSpc>
            </a:pPr>
            <a:endParaRPr lang="en-US" sz="23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990743" y="1411058"/>
            <a:ext cx="8883724" cy="3159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u="sng" dirty="0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Idea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NWIS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gives </a:t>
            </a:r>
            <a:r>
              <a:rPr lang="en-US" sz="2299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eRTMAC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 “Institutional Memory” by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converting scattered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historical drilling records into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searchable, structured knowledge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linked to nearby wells, depths, and formations.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combines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historical wel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 experience with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live drilling data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identify relevant past events and</a:t>
            </a:r>
            <a:r>
              <a:rPr lang="en-US" sz="22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provide evidence-based drilling intelligence</a:t>
            </a:r>
            <a:r>
              <a:rPr lang="en-US" sz="22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 the right time and depth.</a:t>
            </a:r>
          </a:p>
          <a:p>
            <a:pPr algn="ctr">
              <a:lnSpc>
                <a:spcPts val="1399"/>
              </a:lnSpc>
            </a:pPr>
            <a:endParaRPr lang="en-US" sz="22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014E49BD-F7D2-5C6D-D4DB-BE64FB8F315C}"/>
              </a:ext>
            </a:extLst>
          </p:cNvPr>
          <p:cNvSpPr/>
          <p:nvPr/>
        </p:nvSpPr>
        <p:spPr>
          <a:xfrm>
            <a:off x="13443878" y="1607687"/>
            <a:ext cx="3940114" cy="5966365"/>
          </a:xfrm>
          <a:prstGeom prst="roundRect">
            <a:avLst>
              <a:gd name="adj" fmla="val 2737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98146FE-808E-B53C-C167-816BB7F4DB65}"/>
              </a:ext>
            </a:extLst>
          </p:cNvPr>
          <p:cNvSpPr/>
          <p:nvPr/>
        </p:nvSpPr>
        <p:spPr>
          <a:xfrm>
            <a:off x="10101594" y="4448354"/>
            <a:ext cx="1523904" cy="307364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72" name="Arrow: Bent 71">
            <a:extLst>
              <a:ext uri="{FF2B5EF4-FFF2-40B4-BE49-F238E27FC236}">
                <a16:creationId xmlns:a16="http://schemas.microsoft.com/office/drawing/2014/main" id="{2E30FCBC-AEC5-3231-3ACE-BFD9F1382AB2}"/>
              </a:ext>
            </a:extLst>
          </p:cNvPr>
          <p:cNvSpPr/>
          <p:nvPr/>
        </p:nvSpPr>
        <p:spPr>
          <a:xfrm rot="5400000">
            <a:off x="8669011" y="3163113"/>
            <a:ext cx="548122" cy="249456"/>
          </a:xfrm>
          <a:prstGeom prst="ben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1696748" y="7632004"/>
            <a:ext cx="5732868" cy="1789789"/>
            <a:chOff x="0" y="0"/>
            <a:chExt cx="1312401" cy="248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12401" cy="248153"/>
            </a:xfrm>
            <a:custGeom>
              <a:avLst/>
              <a:gdLst/>
              <a:ahLst/>
              <a:cxnLst/>
              <a:rect l="l" t="t" r="r" b="b"/>
              <a:pathLst>
                <a:path w="1312401" h="248153">
                  <a:moveTo>
                    <a:pt x="23707" y="0"/>
                  </a:moveTo>
                  <a:lnTo>
                    <a:pt x="1288694" y="0"/>
                  </a:lnTo>
                  <a:cubicBezTo>
                    <a:pt x="1294982" y="0"/>
                    <a:pt x="1301012" y="2498"/>
                    <a:pt x="1305458" y="6944"/>
                  </a:cubicBezTo>
                  <a:cubicBezTo>
                    <a:pt x="1309904" y="11390"/>
                    <a:pt x="1312401" y="17419"/>
                    <a:pt x="1312401" y="23707"/>
                  </a:cubicBezTo>
                  <a:lnTo>
                    <a:pt x="1312401" y="224446"/>
                  </a:lnTo>
                  <a:cubicBezTo>
                    <a:pt x="1312401" y="230733"/>
                    <a:pt x="1309904" y="236763"/>
                    <a:pt x="1305458" y="241209"/>
                  </a:cubicBezTo>
                  <a:cubicBezTo>
                    <a:pt x="1301012" y="245655"/>
                    <a:pt x="1294982" y="248153"/>
                    <a:pt x="1288694" y="248153"/>
                  </a:cubicBezTo>
                  <a:lnTo>
                    <a:pt x="23707" y="248153"/>
                  </a:lnTo>
                  <a:cubicBezTo>
                    <a:pt x="17419" y="248153"/>
                    <a:pt x="11390" y="245655"/>
                    <a:pt x="6944" y="241209"/>
                  </a:cubicBezTo>
                  <a:cubicBezTo>
                    <a:pt x="2498" y="236763"/>
                    <a:pt x="0" y="230733"/>
                    <a:pt x="0" y="224446"/>
                  </a:cubicBezTo>
                  <a:lnTo>
                    <a:pt x="0" y="23707"/>
                  </a:lnTo>
                  <a:cubicBezTo>
                    <a:pt x="0" y="17419"/>
                    <a:pt x="2498" y="11390"/>
                    <a:pt x="6944" y="6944"/>
                  </a:cubicBezTo>
                  <a:cubicBezTo>
                    <a:pt x="11390" y="2498"/>
                    <a:pt x="17419" y="0"/>
                    <a:pt x="23707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12401" cy="286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45700" y="126621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14300"/>
              <a:ext cx="21945600" cy="240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APPROACH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Falcons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81566" y="2739386"/>
            <a:ext cx="5117782" cy="6682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 AI: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Uses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Docling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RapidOCR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NLP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extract drilling events, depths, formations and lessons from WCRs,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DDRs and PDFs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&amp; Intelligence: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PostgreSQL +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PostGIS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pgvector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stores well, depth, formation and event data for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spatial and semantic search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AI/ML Risk Engine: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Combines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/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LightGBM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SHAP + physics-based rules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live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telemetry to identify potential drilling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risks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434340" lvl="1" indent="-217170" algn="l">
              <a:lnSpc>
                <a:spcPts val="2879"/>
              </a:lnSpc>
              <a:buFont typeface="Arial"/>
              <a:buChar char="•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Application Layer: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 + Vite + Leaflet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</a:t>
            </a:r>
            <a:r>
              <a:rPr lang="en-US" sz="23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Plotly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provides the engineer dashboard, while </a:t>
            </a:r>
            <a:r>
              <a:rPr lang="en-US" sz="23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</a:t>
            </a:r>
            <a:r>
              <a:rPr lang="en-US" sz="23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Node.js 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connects AI services, data and real-time alerts.</a:t>
            </a:r>
          </a:p>
          <a:p>
            <a:pPr algn="l">
              <a:lnSpc>
                <a:spcPts val="2879"/>
              </a:lnSpc>
            </a:pPr>
            <a:endParaRPr lang="en-US" sz="2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847849" y="1653730"/>
            <a:ext cx="38148" cy="7696201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475612" y="359321"/>
            <a:ext cx="2215201" cy="1249099"/>
            <a:chOff x="0" y="0"/>
            <a:chExt cx="2953601" cy="1665465"/>
          </a:xfrm>
        </p:grpSpPr>
        <p:sp>
          <p:nvSpPr>
            <p:cNvPr id="24" name="Freeform 24" descr="Your startup LOGO"/>
            <p:cNvSpPr/>
            <p:nvPr/>
          </p:nvSpPr>
          <p:spPr>
            <a:xfrm>
              <a:off x="0" y="0"/>
              <a:ext cx="2953639" cy="1665478"/>
            </a:xfrm>
            <a:custGeom>
              <a:avLst/>
              <a:gdLst/>
              <a:ahLst/>
              <a:cxnLst/>
              <a:rect l="l" t="t" r="r" b="b"/>
              <a:pathLst>
                <a:path w="2953639" h="1665478">
                  <a:moveTo>
                    <a:pt x="0" y="832739"/>
                  </a:moveTo>
                  <a:cubicBezTo>
                    <a:pt x="0" y="372872"/>
                    <a:pt x="661162" y="0"/>
                    <a:pt x="1476756" y="0"/>
                  </a:cubicBezTo>
                  <a:cubicBezTo>
                    <a:pt x="2292350" y="0"/>
                    <a:pt x="2953639" y="372872"/>
                    <a:pt x="2953639" y="832739"/>
                  </a:cubicBezTo>
                  <a:cubicBezTo>
                    <a:pt x="2953639" y="1292606"/>
                    <a:pt x="2292477" y="1665478"/>
                    <a:pt x="1476883" y="1665478"/>
                  </a:cubicBezTo>
                  <a:cubicBezTo>
                    <a:pt x="66128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2953601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Faltantra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849797" y="7800609"/>
            <a:ext cx="5956637" cy="1452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4"/>
              </a:lnSpc>
            </a:pPr>
            <a:r>
              <a:rPr lang="en-US" sz="2077" b="1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90% Fully</a:t>
            </a:r>
            <a:r>
              <a:rPr lang="en-US" sz="2077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Functioning </a:t>
            </a:r>
            <a:r>
              <a:rPr lang="en-US" sz="2077" b="1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Prototype</a:t>
            </a:r>
            <a:r>
              <a:rPr lang="en-US" sz="2077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Provided.</a:t>
            </a:r>
          </a:p>
          <a:p>
            <a:pPr>
              <a:lnSpc>
                <a:spcPts val="3074"/>
              </a:lnSpc>
            </a:pPr>
            <a:r>
              <a:rPr lang="en-US" sz="2277" b="1" spc="-3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</a:t>
            </a:r>
            <a:r>
              <a:rPr lang="en-US" sz="2277" spc="-3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en-US" sz="2277" u="sng" spc="-34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5" tooltip="https://ertmac-nwis2.vercel.app"/>
              </a:rPr>
              <a:t>ertmac-nwis2.vercel.app</a:t>
            </a:r>
          </a:p>
          <a:p>
            <a:pPr>
              <a:lnSpc>
                <a:spcPts val="2804"/>
              </a:lnSpc>
            </a:pPr>
            <a:r>
              <a:rPr lang="en-US" sz="2077" b="1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Codebase</a:t>
            </a:r>
            <a:r>
              <a:rPr lang="en-US" sz="2077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: </a:t>
            </a:r>
            <a:r>
              <a:rPr lang="en-US" sz="2077" u="sng" spc="-3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  <a:hlinkClick r:id="rId6" tooltip="https://github.com/Chgauravpc/eRTMAC-NWIS"/>
              </a:rPr>
              <a:t>https://github.com/Chgauravpc/eRTMAC-NWIS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5D325E-D404-14BB-634B-0730D80829B0}"/>
              </a:ext>
            </a:extLst>
          </p:cNvPr>
          <p:cNvSpPr/>
          <p:nvPr/>
        </p:nvSpPr>
        <p:spPr>
          <a:xfrm>
            <a:off x="475612" y="1982704"/>
            <a:ext cx="626331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Technology </a:t>
            </a:r>
            <a:r>
              <a:rPr lang="en-US" sz="3600" b="1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Keypoints</a:t>
            </a:r>
            <a:endParaRPr lang="en-US" sz="3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73C043E-13CA-AC4D-8872-76CB2C99CAC8}"/>
              </a:ext>
            </a:extLst>
          </p:cNvPr>
          <p:cNvSpPr/>
          <p:nvPr/>
        </p:nvSpPr>
        <p:spPr>
          <a:xfrm>
            <a:off x="6232601" y="1870106"/>
            <a:ext cx="1523904" cy="7548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Admin Roles, Stream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BACC3D1-6A43-59F1-EF01-10A5F85644AA}"/>
              </a:ext>
            </a:extLst>
          </p:cNvPr>
          <p:cNvSpPr/>
          <p:nvPr/>
        </p:nvSpPr>
        <p:spPr>
          <a:xfrm>
            <a:off x="7294439" y="2737581"/>
            <a:ext cx="1523904" cy="7548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Well AT TD: Final Reports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C01C9B8-7A32-AF50-0147-E52C0DAF081A}"/>
              </a:ext>
            </a:extLst>
          </p:cNvPr>
          <p:cNvSpPr/>
          <p:nvPr/>
        </p:nvSpPr>
        <p:spPr>
          <a:xfrm>
            <a:off x="6206292" y="5475002"/>
            <a:ext cx="1523904" cy="2047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n w="0"/>
                <a:solidFill>
                  <a:schemeClr val="tx1"/>
                </a:solidFill>
              </a:rPr>
              <a:t>Supabase</a:t>
            </a:r>
            <a:r>
              <a:rPr lang="en-IN" dirty="0">
                <a:ln w="0"/>
                <a:solidFill>
                  <a:schemeClr val="tx1"/>
                </a:solidFill>
              </a:rPr>
              <a:t> Events, Tops, Chunks, Risks Scores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6E8E06B-E0FB-E859-9273-7D60ECE59C59}"/>
              </a:ext>
            </a:extLst>
          </p:cNvPr>
          <p:cNvSpPr/>
          <p:nvPr/>
        </p:nvSpPr>
        <p:spPr>
          <a:xfrm>
            <a:off x="6232601" y="8560594"/>
            <a:ext cx="2377902" cy="7548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Office Engineer Search, Pre Spud Plan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C7C09C3-AE11-D969-F0F0-CECE03EBCAC8}"/>
              </a:ext>
            </a:extLst>
          </p:cNvPr>
          <p:cNvSpPr/>
          <p:nvPr/>
        </p:nvSpPr>
        <p:spPr>
          <a:xfrm>
            <a:off x="8056391" y="3576341"/>
            <a:ext cx="1845322" cy="75485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Data Reviewer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E4A6A93-D85E-5868-ED56-5794D5F177EF}"/>
              </a:ext>
            </a:extLst>
          </p:cNvPr>
          <p:cNvSpPr/>
          <p:nvPr/>
        </p:nvSpPr>
        <p:spPr>
          <a:xfrm>
            <a:off x="8770586" y="8560594"/>
            <a:ext cx="2297868" cy="7548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RTOC Engineer map, risk, Triage</a:t>
            </a: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A6F3CEA9-276A-C752-9532-D2964B884EB4}"/>
              </a:ext>
            </a:extLst>
          </p:cNvPr>
          <p:cNvSpPr/>
          <p:nvPr/>
        </p:nvSpPr>
        <p:spPr>
          <a:xfrm>
            <a:off x="6798383" y="2624962"/>
            <a:ext cx="349061" cy="2845968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Bent 59">
            <a:extLst>
              <a:ext uri="{FF2B5EF4-FFF2-40B4-BE49-F238E27FC236}">
                <a16:creationId xmlns:a16="http://schemas.microsoft.com/office/drawing/2014/main" id="{9838A951-2846-85EB-963C-5357206616A1}"/>
              </a:ext>
            </a:extLst>
          </p:cNvPr>
          <p:cNvSpPr/>
          <p:nvPr/>
        </p:nvSpPr>
        <p:spPr>
          <a:xfrm rot="5400000">
            <a:off x="7970751" y="7079819"/>
            <a:ext cx="561976" cy="2377902"/>
          </a:xfrm>
          <a:prstGeom prst="bentArrow">
            <a:avLst>
              <a:gd name="adj1" fmla="val 21150"/>
              <a:gd name="adj2" fmla="val 23077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1" name="Arrow: Down 60">
            <a:extLst>
              <a:ext uri="{FF2B5EF4-FFF2-40B4-BE49-F238E27FC236}">
                <a16:creationId xmlns:a16="http://schemas.microsoft.com/office/drawing/2014/main" id="{60A97292-B310-F23F-78E7-B201F2D2B671}"/>
              </a:ext>
            </a:extLst>
          </p:cNvPr>
          <p:cNvSpPr/>
          <p:nvPr/>
        </p:nvSpPr>
        <p:spPr>
          <a:xfrm>
            <a:off x="6856775" y="7522002"/>
            <a:ext cx="268622" cy="1068473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3BA3D6F-AE07-2E2E-BEE4-9AF22E4C01B5}"/>
              </a:ext>
            </a:extLst>
          </p:cNvPr>
          <p:cNvGrpSpPr/>
          <p:nvPr/>
        </p:nvGrpSpPr>
        <p:grpSpPr>
          <a:xfrm>
            <a:off x="8056391" y="4448354"/>
            <a:ext cx="1923239" cy="3073648"/>
            <a:chOff x="8011521" y="4143855"/>
            <a:chExt cx="1923239" cy="3073648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F668B61-F738-426F-756A-FC584424F731}"/>
                </a:ext>
              </a:extLst>
            </p:cNvPr>
            <p:cNvSpPr/>
            <p:nvPr/>
          </p:nvSpPr>
          <p:spPr>
            <a:xfrm>
              <a:off x="8011521" y="4143855"/>
              <a:ext cx="1923239" cy="307364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9A1DA5E-0E9D-EF11-CE30-FDDE62149109}"/>
                </a:ext>
              </a:extLst>
            </p:cNvPr>
            <p:cNvSpPr/>
            <p:nvPr/>
          </p:nvSpPr>
          <p:spPr>
            <a:xfrm>
              <a:off x="8164610" y="4372103"/>
              <a:ext cx="1587034" cy="754856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ysClr val="windowText" lastClr="000000"/>
                  </a:solidFill>
                </a:rPr>
                <a:t>OCR + Extract </a:t>
              </a:r>
              <a:r>
                <a:rPr lang="en-IN" sz="1600" dirty="0" err="1">
                  <a:solidFill>
                    <a:sysClr val="windowText" lastClr="000000"/>
                  </a:solidFill>
                </a:rPr>
                <a:t>Docling</a:t>
              </a:r>
              <a:r>
                <a:rPr lang="en-IN" sz="1600" dirty="0">
                  <a:solidFill>
                    <a:sysClr val="windowText" lastClr="000000"/>
                  </a:solidFill>
                </a:rPr>
                <a:t>, </a:t>
              </a:r>
              <a:r>
                <a:rPr lang="en-IN" sz="1600" dirty="0" err="1">
                  <a:solidFill>
                    <a:sysClr val="windowText" lastClr="000000"/>
                  </a:solidFill>
                </a:rPr>
                <a:t>Groq</a:t>
              </a:r>
              <a:endParaRPr lang="en-IN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39AD681-F202-41EF-77F8-B0C0CE1EE872}"/>
                </a:ext>
              </a:extLst>
            </p:cNvPr>
            <p:cNvSpPr/>
            <p:nvPr/>
          </p:nvSpPr>
          <p:spPr>
            <a:xfrm>
              <a:off x="8164610" y="5322611"/>
              <a:ext cx="1587034" cy="754856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ysClr val="windowText" lastClr="000000"/>
                  </a:solidFill>
                </a:rPr>
                <a:t>Validate, Score Fields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66DDBC0-D486-1513-BED0-B13E0BF66FFA}"/>
                </a:ext>
              </a:extLst>
            </p:cNvPr>
            <p:cNvSpPr/>
            <p:nvPr/>
          </p:nvSpPr>
          <p:spPr>
            <a:xfrm>
              <a:off x="8164610" y="6283643"/>
              <a:ext cx="1587034" cy="75485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ysClr val="windowText" lastClr="000000"/>
                  </a:solidFill>
                </a:rPr>
                <a:t>Review queue: approve, edit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3B60183-322A-C71F-95DD-5CC7C340C3B2}"/>
                </a:ext>
              </a:extLst>
            </p:cNvPr>
            <p:cNvCxnSpPr>
              <a:stCxn id="53" idx="2"/>
              <a:endCxn id="56" idx="0"/>
            </p:cNvCxnSpPr>
            <p:nvPr/>
          </p:nvCxnSpPr>
          <p:spPr>
            <a:xfrm>
              <a:off x="8958127" y="5126959"/>
              <a:ext cx="0" cy="1956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C6744A4-39B6-504B-27C5-BE1C672CD8F9}"/>
                </a:ext>
              </a:extLst>
            </p:cNvPr>
            <p:cNvCxnSpPr>
              <a:cxnSpLocks/>
              <a:stCxn id="56" idx="2"/>
              <a:endCxn id="58" idx="0"/>
            </p:cNvCxnSpPr>
            <p:nvPr/>
          </p:nvCxnSpPr>
          <p:spPr>
            <a:xfrm>
              <a:off x="8958127" y="6077467"/>
              <a:ext cx="0" cy="206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CBE2181B-F40F-2DAF-B08C-CE6BF76C82FC}"/>
              </a:ext>
            </a:extLst>
          </p:cNvPr>
          <p:cNvSpPr/>
          <p:nvPr/>
        </p:nvSpPr>
        <p:spPr>
          <a:xfrm rot="10800000">
            <a:off x="7745794" y="5819598"/>
            <a:ext cx="449263" cy="377428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A79FE9D2-99A7-7313-FFB4-BDF01A49C608}"/>
              </a:ext>
            </a:extLst>
          </p:cNvPr>
          <p:cNvSpPr/>
          <p:nvPr/>
        </p:nvSpPr>
        <p:spPr>
          <a:xfrm rot="10800000">
            <a:off x="7742339" y="6790078"/>
            <a:ext cx="449263" cy="377428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51A36088-8472-6775-38C9-352939D5B9D3}"/>
              </a:ext>
            </a:extLst>
          </p:cNvPr>
          <p:cNvSpPr/>
          <p:nvPr/>
        </p:nvSpPr>
        <p:spPr>
          <a:xfrm>
            <a:off x="8926797" y="4329512"/>
            <a:ext cx="152400" cy="325434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F7C79DC-D615-AAF2-700E-D00F0052BC82}"/>
              </a:ext>
            </a:extLst>
          </p:cNvPr>
          <p:cNvSpPr/>
          <p:nvPr/>
        </p:nvSpPr>
        <p:spPr>
          <a:xfrm>
            <a:off x="10370982" y="6828910"/>
            <a:ext cx="984681" cy="4431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n w="0"/>
                <a:solidFill>
                  <a:schemeClr val="tx1"/>
                </a:solidFill>
              </a:rPr>
              <a:t>L1 Offsets</a:t>
            </a:r>
          </a:p>
        </p:txBody>
      </p:sp>
      <p:sp>
        <p:nvSpPr>
          <p:cNvPr id="75" name="Arrow: Bent 74">
            <a:extLst>
              <a:ext uri="{FF2B5EF4-FFF2-40B4-BE49-F238E27FC236}">
                <a16:creationId xmlns:a16="http://schemas.microsoft.com/office/drawing/2014/main" id="{15A29038-2E44-0818-88E9-7ADBB2229DAD}"/>
              </a:ext>
            </a:extLst>
          </p:cNvPr>
          <p:cNvSpPr/>
          <p:nvPr/>
        </p:nvSpPr>
        <p:spPr>
          <a:xfrm rot="10800000" flipH="1">
            <a:off x="7335712" y="7532835"/>
            <a:ext cx="3560887" cy="365331"/>
          </a:xfrm>
          <a:prstGeom prst="bentArrow">
            <a:avLst>
              <a:gd name="adj1" fmla="val 21150"/>
              <a:gd name="adj2" fmla="val 8566"/>
              <a:gd name="adj3" fmla="val 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3DACF509-DCE3-F979-58D9-3FE3E803AEBA}"/>
              </a:ext>
            </a:extLst>
          </p:cNvPr>
          <p:cNvSpPr/>
          <p:nvPr/>
        </p:nvSpPr>
        <p:spPr>
          <a:xfrm rot="10800000">
            <a:off x="10779779" y="7302101"/>
            <a:ext cx="157896" cy="5852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3B3FDA5-BC5B-AE78-62EF-463C48C9E6C7}"/>
              </a:ext>
            </a:extLst>
          </p:cNvPr>
          <p:cNvSpPr/>
          <p:nvPr/>
        </p:nvSpPr>
        <p:spPr>
          <a:xfrm>
            <a:off x="10063317" y="3978970"/>
            <a:ext cx="1593625" cy="340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Supabase</a:t>
            </a:r>
            <a:r>
              <a:rPr lang="en-IN" sz="1400" dirty="0"/>
              <a:t> Realtime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89471655-FB20-F07C-E4FC-8C7EFC0D6AEE}"/>
              </a:ext>
            </a:extLst>
          </p:cNvPr>
          <p:cNvSpPr/>
          <p:nvPr/>
        </p:nvSpPr>
        <p:spPr>
          <a:xfrm>
            <a:off x="11676223" y="4366139"/>
            <a:ext cx="1673540" cy="75485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Admin: retrain, swap if better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1DD3E372-2997-8214-4406-722CFC05A4AC}"/>
              </a:ext>
            </a:extLst>
          </p:cNvPr>
          <p:cNvSpPr/>
          <p:nvPr/>
        </p:nvSpPr>
        <p:spPr>
          <a:xfrm>
            <a:off x="10779778" y="2033711"/>
            <a:ext cx="1673540" cy="7548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Resolved; Rate useful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7A211D8-B980-DFCA-89A8-67C1307C082D}"/>
              </a:ext>
            </a:extLst>
          </p:cNvPr>
          <p:cNvSpPr/>
          <p:nvPr/>
        </p:nvSpPr>
        <p:spPr>
          <a:xfrm>
            <a:off x="8910827" y="2033711"/>
            <a:ext cx="1673540" cy="7548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ysClr val="windowText" lastClr="000000"/>
                </a:solidFill>
              </a:rPr>
              <a:t>Rig/ RTOC ack, log action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299DC80-7C87-D3BB-44CD-3B10E569231B}"/>
              </a:ext>
            </a:extLst>
          </p:cNvPr>
          <p:cNvSpPr/>
          <p:nvPr/>
        </p:nvSpPr>
        <p:spPr>
          <a:xfrm>
            <a:off x="10063317" y="3116844"/>
            <a:ext cx="2438400" cy="7548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Rig Engineer evidence, What worked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9D67B57-A5AC-B79F-8360-CD387D767440}"/>
              </a:ext>
            </a:extLst>
          </p:cNvPr>
          <p:cNvSpPr/>
          <p:nvPr/>
        </p:nvSpPr>
        <p:spPr>
          <a:xfrm>
            <a:off x="10370982" y="6276922"/>
            <a:ext cx="984681" cy="4431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n w="0"/>
                <a:solidFill>
                  <a:schemeClr val="tx1"/>
                </a:solidFill>
              </a:rPr>
              <a:t>L3 Physics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256B3F8E-6FB9-538B-FE0D-5C91AD076690}"/>
              </a:ext>
            </a:extLst>
          </p:cNvPr>
          <p:cNvSpPr/>
          <p:nvPr/>
        </p:nvSpPr>
        <p:spPr>
          <a:xfrm>
            <a:off x="10366385" y="5725416"/>
            <a:ext cx="984681" cy="4431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n w="0"/>
                <a:solidFill>
                  <a:schemeClr val="tx1"/>
                </a:solidFill>
              </a:rPr>
              <a:t>L2 ml + SHAP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E28A1FA-66D9-8E5A-AE62-C26CA0FB75C4}"/>
              </a:ext>
            </a:extLst>
          </p:cNvPr>
          <p:cNvSpPr/>
          <p:nvPr/>
        </p:nvSpPr>
        <p:spPr>
          <a:xfrm>
            <a:off x="10372735" y="5183951"/>
            <a:ext cx="984681" cy="4431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solidFill>
                  <a:sysClr val="windowText" lastClr="000000"/>
                </a:solidFill>
              </a:rPr>
              <a:t>Fused Score</a:t>
            </a:r>
          </a:p>
          <a:p>
            <a:pPr algn="ctr"/>
            <a:r>
              <a:rPr lang="en-IN" sz="1100" b="1" dirty="0">
                <a:solidFill>
                  <a:sysClr val="windowText" lastClr="000000"/>
                </a:solidFill>
              </a:rPr>
              <a:t>0-100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FB9B57E-31F6-94CB-9DBA-5AA48DFFCDB5}"/>
              </a:ext>
            </a:extLst>
          </p:cNvPr>
          <p:cNvSpPr/>
          <p:nvPr/>
        </p:nvSpPr>
        <p:spPr>
          <a:xfrm>
            <a:off x="10320342" y="4630645"/>
            <a:ext cx="1089466" cy="28050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/>
              <a:t>Alert 50-300m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1F2024CA-7583-25DD-45C0-CCBD1EEE5B49}"/>
              </a:ext>
            </a:extLst>
          </p:cNvPr>
          <p:cNvCxnSpPr>
            <a:cxnSpLocks/>
            <a:stCxn id="74" idx="1"/>
            <a:endCxn id="92" idx="1"/>
          </p:cNvCxnSpPr>
          <p:nvPr/>
        </p:nvCxnSpPr>
        <p:spPr>
          <a:xfrm rot="10800000" flipH="1">
            <a:off x="10370981" y="5405532"/>
            <a:ext cx="1753" cy="1644959"/>
          </a:xfrm>
          <a:prstGeom prst="bentConnector3">
            <a:avLst>
              <a:gd name="adj1" fmla="val -97803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0CBF255B-C082-6509-9112-8FEFFA02EB69}"/>
              </a:ext>
            </a:extLst>
          </p:cNvPr>
          <p:cNvCxnSpPr>
            <a:cxnSpLocks/>
            <a:stCxn id="90" idx="1"/>
            <a:endCxn id="92" idx="1"/>
          </p:cNvCxnSpPr>
          <p:nvPr/>
        </p:nvCxnSpPr>
        <p:spPr>
          <a:xfrm rot="10800000" flipH="1">
            <a:off x="10370981" y="5405532"/>
            <a:ext cx="1753" cy="1092971"/>
          </a:xfrm>
          <a:prstGeom prst="bentConnector3">
            <a:avLst>
              <a:gd name="adj1" fmla="val -97803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BBBC6D17-18BB-DB3A-BB08-961C4FA84E41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10201275" y="5943643"/>
            <a:ext cx="165110" cy="3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Arrow: Down 137">
            <a:extLst>
              <a:ext uri="{FF2B5EF4-FFF2-40B4-BE49-F238E27FC236}">
                <a16:creationId xmlns:a16="http://schemas.microsoft.com/office/drawing/2014/main" id="{B7CD2533-3298-8076-FB06-58B7F754FE0F}"/>
              </a:ext>
            </a:extLst>
          </p:cNvPr>
          <p:cNvSpPr/>
          <p:nvPr/>
        </p:nvSpPr>
        <p:spPr>
          <a:xfrm flipV="1">
            <a:off x="10725723" y="4911146"/>
            <a:ext cx="266003" cy="27280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Arrow: Bent 138">
            <a:extLst>
              <a:ext uri="{FF2B5EF4-FFF2-40B4-BE49-F238E27FC236}">
                <a16:creationId xmlns:a16="http://schemas.microsoft.com/office/drawing/2014/main" id="{159FC5A3-20D5-1AAD-9167-F415C4806832}"/>
              </a:ext>
            </a:extLst>
          </p:cNvPr>
          <p:cNvSpPr/>
          <p:nvPr/>
        </p:nvSpPr>
        <p:spPr>
          <a:xfrm rot="5400000">
            <a:off x="11640645" y="3160109"/>
            <a:ext cx="1989614" cy="364268"/>
          </a:xfrm>
          <a:prstGeom prst="bentArrow">
            <a:avLst>
              <a:gd name="adj1" fmla="val 25000"/>
              <a:gd name="adj2" fmla="val 31101"/>
              <a:gd name="adj3" fmla="val 25000"/>
              <a:gd name="adj4" fmla="val 4375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397DC93-F27C-7FC2-CC8A-78FB543FAFF4}"/>
              </a:ext>
            </a:extLst>
          </p:cNvPr>
          <p:cNvCxnSpPr>
            <a:cxnSpLocks/>
            <a:stCxn id="93" idx="0"/>
            <a:endCxn id="77" idx="2"/>
          </p:cNvCxnSpPr>
          <p:nvPr/>
        </p:nvCxnSpPr>
        <p:spPr>
          <a:xfrm flipH="1" flipV="1">
            <a:off x="10860130" y="4319920"/>
            <a:ext cx="4945" cy="310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A8D5BF91-5604-2EBD-E3D3-0A711108D9A0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11656942" y="3888748"/>
            <a:ext cx="458858" cy="260697"/>
          </a:xfrm>
          <a:prstGeom prst="bentConnector3">
            <a:avLst>
              <a:gd name="adj1" fmla="val 9981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2F24CD0-F9EA-2FBF-1F71-01881D1A6125}"/>
              </a:ext>
            </a:extLst>
          </p:cNvPr>
          <p:cNvCxnSpPr>
            <a:cxnSpLocks/>
          </p:cNvCxnSpPr>
          <p:nvPr/>
        </p:nvCxnSpPr>
        <p:spPr>
          <a:xfrm flipV="1">
            <a:off x="10330093" y="2785015"/>
            <a:ext cx="0" cy="3299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4BA7806-A8D0-F443-A093-2AB3223F348A}"/>
              </a:ext>
            </a:extLst>
          </p:cNvPr>
          <p:cNvCxnSpPr>
            <a:cxnSpLocks/>
            <a:stCxn id="88" idx="3"/>
            <a:endCxn id="87" idx="1"/>
          </p:cNvCxnSpPr>
          <p:nvPr/>
        </p:nvCxnSpPr>
        <p:spPr>
          <a:xfrm>
            <a:off x="10584367" y="2411139"/>
            <a:ext cx="1954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7657ECFE-23CF-AA8A-FF5B-6BE00C185733}"/>
              </a:ext>
            </a:extLst>
          </p:cNvPr>
          <p:cNvSpPr/>
          <p:nvPr/>
        </p:nvSpPr>
        <p:spPr>
          <a:xfrm>
            <a:off x="11734848" y="5932192"/>
            <a:ext cx="1578523" cy="9978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ysClr val="windowText" lastClr="000000"/>
                </a:solidFill>
              </a:rPr>
              <a:t>ERTMAC stream, read-only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F04FE9B2-09EA-25F1-5963-F86395FBDA06}"/>
              </a:ext>
            </a:extLst>
          </p:cNvPr>
          <p:cNvCxnSpPr>
            <a:cxnSpLocks/>
            <a:stCxn id="86" idx="2"/>
            <a:endCxn id="165" idx="0"/>
          </p:cNvCxnSpPr>
          <p:nvPr/>
        </p:nvCxnSpPr>
        <p:spPr>
          <a:xfrm>
            <a:off x="12512993" y="5120995"/>
            <a:ext cx="11117" cy="8111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1D353128-A096-9743-0C70-AFEC4D62C48E}"/>
              </a:ext>
            </a:extLst>
          </p:cNvPr>
          <p:cNvCxnSpPr>
            <a:cxnSpLocks/>
            <a:stCxn id="165" idx="1"/>
            <a:endCxn id="91" idx="3"/>
          </p:cNvCxnSpPr>
          <p:nvPr/>
        </p:nvCxnSpPr>
        <p:spPr>
          <a:xfrm rot="10800000">
            <a:off x="11351066" y="5946997"/>
            <a:ext cx="383782" cy="4841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FAEA00A1-156F-9A46-586D-5454303BDD38}"/>
              </a:ext>
            </a:extLst>
          </p:cNvPr>
          <p:cNvCxnSpPr>
            <a:cxnSpLocks/>
            <a:stCxn id="165" idx="1"/>
            <a:endCxn id="74" idx="3"/>
          </p:cNvCxnSpPr>
          <p:nvPr/>
        </p:nvCxnSpPr>
        <p:spPr>
          <a:xfrm rot="10800000" flipV="1">
            <a:off x="11355664" y="6431126"/>
            <a:ext cx="379185" cy="6193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BD295402-C916-2566-0E69-239E2E5756C6}"/>
              </a:ext>
            </a:extLst>
          </p:cNvPr>
          <p:cNvCxnSpPr>
            <a:cxnSpLocks/>
            <a:stCxn id="165" idx="1"/>
            <a:endCxn id="90" idx="3"/>
          </p:cNvCxnSpPr>
          <p:nvPr/>
        </p:nvCxnSpPr>
        <p:spPr>
          <a:xfrm rot="10800000" flipV="1">
            <a:off x="11355664" y="6431126"/>
            <a:ext cx="379185" cy="673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2" name="Picture 201">
            <a:extLst>
              <a:ext uri="{FF2B5EF4-FFF2-40B4-BE49-F238E27FC236}">
                <a16:creationId xmlns:a16="http://schemas.microsoft.com/office/drawing/2014/main" id="{E566B6BA-74AF-7963-FB98-67FF3F8848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61881" y="1785717"/>
            <a:ext cx="3520772" cy="30351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84DECA69-C906-795F-7EC0-1049116DDA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0505"/>
          <a:stretch>
            <a:fillRect/>
          </a:stretch>
        </p:blipFill>
        <p:spPr>
          <a:xfrm>
            <a:off x="13661880" y="4981203"/>
            <a:ext cx="3467851" cy="10166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693C7E73-DA4F-325C-00CD-AE3116C8DE1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11040" b="2"/>
          <a:stretch>
            <a:fillRect/>
          </a:stretch>
        </p:blipFill>
        <p:spPr>
          <a:xfrm>
            <a:off x="13661880" y="6096284"/>
            <a:ext cx="3467851" cy="12637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Satellite Icon">
            <a:extLst>
              <a:ext uri="{FF2B5EF4-FFF2-40B4-BE49-F238E27FC236}">
                <a16:creationId xmlns:a16="http://schemas.microsoft.com/office/drawing/2014/main" id="{20BBA2C2-8CCD-C263-9F8F-8E069AB48C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79" t="13225" r="23479" b="13225"/>
          <a:stretch>
            <a:fillRect/>
          </a:stretch>
        </p:blipFill>
        <p:spPr>
          <a:xfrm>
            <a:off x="9011612" y="3842322"/>
            <a:ext cx="1495424" cy="130040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8712884" y="5593083"/>
            <a:ext cx="8147327" cy="3552279"/>
            <a:chOff x="0" y="0"/>
            <a:chExt cx="13284776" cy="51512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84775" cy="5151255"/>
            </a:xfrm>
            <a:custGeom>
              <a:avLst/>
              <a:gdLst/>
              <a:ahLst/>
              <a:cxnLst/>
              <a:rect l="l" t="t" r="r" b="b"/>
              <a:pathLst>
                <a:path w="13284775" h="5151255">
                  <a:moveTo>
                    <a:pt x="0" y="307024"/>
                  </a:moveTo>
                  <a:cubicBezTo>
                    <a:pt x="0" y="137479"/>
                    <a:pt x="132865" y="0"/>
                    <a:pt x="296720" y="0"/>
                  </a:cubicBezTo>
                  <a:lnTo>
                    <a:pt x="12988055" y="0"/>
                  </a:lnTo>
                  <a:cubicBezTo>
                    <a:pt x="13151910" y="0"/>
                    <a:pt x="13284775" y="137479"/>
                    <a:pt x="13284775" y="307024"/>
                  </a:cubicBezTo>
                  <a:lnTo>
                    <a:pt x="13284775" y="4844231"/>
                  </a:lnTo>
                  <a:cubicBezTo>
                    <a:pt x="13284775" y="5013776"/>
                    <a:pt x="13151910" y="5151255"/>
                    <a:pt x="12988055" y="5151255"/>
                  </a:cubicBezTo>
                  <a:lnTo>
                    <a:pt x="296720" y="5151255"/>
                  </a:lnTo>
                  <a:cubicBezTo>
                    <a:pt x="132865" y="5151255"/>
                    <a:pt x="0" y="5013776"/>
                    <a:pt x="0" y="484423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70C0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0595" y="1793987"/>
            <a:ext cx="6787201" cy="3553625"/>
            <a:chOff x="0" y="0"/>
            <a:chExt cx="9049601" cy="47381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49639" cy="4738116"/>
            </a:xfrm>
            <a:custGeom>
              <a:avLst/>
              <a:gdLst/>
              <a:ahLst/>
              <a:cxnLst/>
              <a:rect l="l" t="t" r="r" b="b"/>
              <a:pathLst>
                <a:path w="9049639" h="4738116">
                  <a:moveTo>
                    <a:pt x="0" y="282448"/>
                  </a:moveTo>
                  <a:cubicBezTo>
                    <a:pt x="0" y="126492"/>
                    <a:pt x="126492" y="0"/>
                    <a:pt x="282448" y="0"/>
                  </a:cubicBezTo>
                  <a:lnTo>
                    <a:pt x="8767191" y="0"/>
                  </a:lnTo>
                  <a:cubicBezTo>
                    <a:pt x="8923148" y="0"/>
                    <a:pt x="9049639" y="126492"/>
                    <a:pt x="9049639" y="282448"/>
                  </a:cubicBezTo>
                  <a:lnTo>
                    <a:pt x="9049639" y="4455668"/>
                  </a:lnTo>
                  <a:cubicBezTo>
                    <a:pt x="9049639" y="4611624"/>
                    <a:pt x="8923148" y="4738116"/>
                    <a:pt x="8767191" y="4738116"/>
                  </a:cubicBezTo>
                  <a:lnTo>
                    <a:pt x="282448" y="4738116"/>
                  </a:lnTo>
                  <a:cubicBezTo>
                    <a:pt x="126492" y="4738116"/>
                    <a:pt x="0" y="4611751"/>
                    <a:pt x="0" y="4455668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176" r="-17176" b="-1"/>
              </a:stretch>
            </a:blipFill>
            <a:ln w="38100" cap="sq">
              <a:solidFill>
                <a:srgbClr val="4F81BD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1945600" cy="240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AND VIABILITY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Falcons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10712" y="5603461"/>
            <a:ext cx="6737084" cy="3552296"/>
            <a:chOff x="0" y="0"/>
            <a:chExt cx="8983838" cy="4736953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83902" cy="4736930"/>
            </a:xfrm>
            <a:custGeom>
              <a:avLst/>
              <a:gdLst/>
              <a:ahLst/>
              <a:cxnLst/>
              <a:rect l="l" t="t" r="r" b="b"/>
              <a:pathLst>
                <a:path w="8983902" h="4736930">
                  <a:moveTo>
                    <a:pt x="0" y="282392"/>
                  </a:moveTo>
                  <a:cubicBezTo>
                    <a:pt x="0" y="126418"/>
                    <a:pt x="138022" y="0"/>
                    <a:pt x="308312" y="0"/>
                  </a:cubicBezTo>
                  <a:lnTo>
                    <a:pt x="8675589" y="0"/>
                  </a:lnTo>
                  <a:cubicBezTo>
                    <a:pt x="8845879" y="0"/>
                    <a:pt x="8983902" y="126418"/>
                    <a:pt x="8983902" y="282392"/>
                  </a:cubicBezTo>
                  <a:lnTo>
                    <a:pt x="8983902" y="4454539"/>
                  </a:lnTo>
                  <a:cubicBezTo>
                    <a:pt x="8983902" y="4610512"/>
                    <a:pt x="8845879" y="4736930"/>
                    <a:pt x="8675589" y="4736930"/>
                  </a:cubicBezTo>
                  <a:lnTo>
                    <a:pt x="308312" y="4736930"/>
                  </a:lnTo>
                  <a:cubicBezTo>
                    <a:pt x="138022" y="4736930"/>
                    <a:pt x="0" y="4610512"/>
                    <a:pt x="0" y="4454539"/>
                  </a:cubicBezTo>
                  <a:close/>
                </a:path>
              </a:pathLst>
            </a:custGeom>
            <a:grpFill/>
            <a:ln w="38100" cap="sq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75612" y="359321"/>
            <a:ext cx="2215201" cy="1249099"/>
            <a:chOff x="0" y="0"/>
            <a:chExt cx="2953601" cy="1665465"/>
          </a:xfrm>
        </p:grpSpPr>
        <p:sp>
          <p:nvSpPr>
            <p:cNvPr id="19" name="Freeform 19" descr="Your startup LOGO"/>
            <p:cNvSpPr/>
            <p:nvPr/>
          </p:nvSpPr>
          <p:spPr>
            <a:xfrm>
              <a:off x="0" y="0"/>
              <a:ext cx="2953639" cy="1665478"/>
            </a:xfrm>
            <a:custGeom>
              <a:avLst/>
              <a:gdLst/>
              <a:ahLst/>
              <a:cxnLst/>
              <a:rect l="l" t="t" r="r" b="b"/>
              <a:pathLst>
                <a:path w="2953639" h="1665478">
                  <a:moveTo>
                    <a:pt x="0" y="832739"/>
                  </a:moveTo>
                  <a:cubicBezTo>
                    <a:pt x="0" y="372872"/>
                    <a:pt x="661162" y="0"/>
                    <a:pt x="1476756" y="0"/>
                  </a:cubicBezTo>
                  <a:cubicBezTo>
                    <a:pt x="2292350" y="0"/>
                    <a:pt x="2953639" y="372872"/>
                    <a:pt x="2953639" y="832739"/>
                  </a:cubicBezTo>
                  <a:cubicBezTo>
                    <a:pt x="2953639" y="1292606"/>
                    <a:pt x="2292477" y="1665478"/>
                    <a:pt x="1476883" y="1665478"/>
                  </a:cubicBezTo>
                  <a:cubicBezTo>
                    <a:pt x="66128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953601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Faltantra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975800" y="5757187"/>
            <a:ext cx="6571996" cy="3360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242" b="1" dirty="0">
                <a:solidFill>
                  <a:schemeClr val="bg2">
                    <a:lumMod val="9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Challenges, Risks &amp; Mitigation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bg2">
                    <a:lumMod val="9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Limited OIL Data: </a:t>
            </a:r>
            <a:r>
              <a:rPr lang="en-US" sz="2300" dirty="0">
                <a:solidFill>
                  <a:schemeClr val="bg2">
                    <a:lumMod val="90000"/>
                  </a:schemeClr>
                </a:solidFill>
                <a:latin typeface="Calibri (MS)"/>
                <a:ea typeface="Calibri (MS)"/>
                <a:cs typeface="Calibri (MS)"/>
                <a:sym typeface="Calibri (MS)"/>
              </a:rPr>
              <a:t>Use public Volve/NPD/NOPIMS and labelled synthetic Assam data.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bg2">
                    <a:lumMod val="9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Poor OCR Quality:</a:t>
            </a:r>
            <a:r>
              <a:rPr lang="en-US" sz="2300" dirty="0">
                <a:solidFill>
                  <a:schemeClr val="bg2">
                    <a:lumMod val="90000"/>
                  </a:schemeClr>
                </a:solidFill>
                <a:latin typeface="Calibri (MS)"/>
                <a:ea typeface="Calibri (MS)"/>
                <a:cs typeface="Calibri (MS)"/>
                <a:sym typeface="Calibri (MS)"/>
              </a:rPr>
              <a:t> Use multiple OCR engines with confidence checks and human review.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bg2">
                    <a:lumMod val="9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Limited ML Labels:</a:t>
            </a:r>
            <a:r>
              <a:rPr lang="en-US" sz="2300" dirty="0">
                <a:solidFill>
                  <a:schemeClr val="bg2">
                    <a:lumMod val="90000"/>
                  </a:schemeClr>
                </a:solidFill>
                <a:latin typeface="Calibri (MS)"/>
                <a:ea typeface="Calibri (MS)"/>
                <a:cs typeface="Calibri (MS)"/>
                <a:sym typeface="Calibri (MS)"/>
              </a:rPr>
              <a:t> Use extracted events, class weighting and honest validation.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Ø"/>
            </a:pPr>
            <a:r>
              <a:rPr lang="en-US" sz="2300" b="1" dirty="0">
                <a:solidFill>
                  <a:schemeClr val="bg2">
                    <a:lumMod val="90000"/>
                  </a:schemeClr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 Fatigue: </a:t>
            </a:r>
            <a:r>
              <a:rPr lang="en-US" sz="2300" dirty="0">
                <a:solidFill>
                  <a:schemeClr val="bg2">
                    <a:lumMod val="90000"/>
                  </a:schemeClr>
                </a:solidFill>
                <a:latin typeface="Calibri (MS)"/>
                <a:ea typeface="Calibri (MS)"/>
                <a:cs typeface="Calibri (MS)"/>
                <a:sym typeface="Calibri (MS)"/>
              </a:rPr>
              <a:t>Severity levels, deduplication and alert acknowledgement.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75800" y="1908501"/>
            <a:ext cx="6571996" cy="3335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3061" b="1" dirty="0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Feasibility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Uses proven AI, OCR, NLP, </a:t>
            </a:r>
            <a:r>
              <a:rPr lang="en-US" sz="23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PostGIS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 ML technologies.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Feasibility: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Supports WCRs, DDRs, PDFs, mud logs and </a:t>
            </a:r>
            <a:r>
              <a:rPr lang="en-US" sz="23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eRTMAC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data.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 Feasibility: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Runs on free-tier cloud services without additional hardware.</a:t>
            </a:r>
          </a:p>
          <a:p>
            <a:pPr marL="620395" lvl="2" indent="-342900" algn="l">
              <a:lnSpc>
                <a:spcPts val="2760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Feasibility: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Works alongside </a:t>
            </a:r>
            <a:r>
              <a:rPr lang="en-US" sz="23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eRTMAC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as a read-only decision-support system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1612" y="5757187"/>
            <a:ext cx="7315200" cy="3370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664" b="1" dirty="0">
                <a:solidFill>
                  <a:srgbClr val="0070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VIABILITY</a:t>
            </a:r>
          </a:p>
          <a:p>
            <a:pPr marL="599587" lvl="1" indent="-342900" algn="l">
              <a:lnSpc>
                <a:spcPts val="2853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 Effective: 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Free-tier infrastructure reduces prototype deployment cost.</a:t>
            </a:r>
          </a:p>
          <a:p>
            <a:pPr marL="599587" lvl="1" indent="-342900" algn="l">
              <a:lnSpc>
                <a:spcPts val="2853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Can support multiple wells, documents and drilling workflows.</a:t>
            </a:r>
          </a:p>
          <a:p>
            <a:pPr marL="599587" lvl="1" indent="-342900" algn="l">
              <a:lnSpc>
                <a:spcPts val="2853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Decision Support: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Provides evidence-backed insights without automating drilling decisions.</a:t>
            </a:r>
          </a:p>
          <a:p>
            <a:pPr marL="599587" lvl="1" indent="-342900" algn="l">
              <a:lnSpc>
                <a:spcPts val="2853"/>
              </a:lnSpc>
              <a:buFont typeface="Wingdings" panose="05000000000000000000" pitchFamily="2" charset="2"/>
              <a:buChar char="v"/>
            </a:pPr>
            <a:r>
              <a:rPr lang="en-US" sz="23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Continuous Learning: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Completed wells and alert feedback can improve future risk models.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F6AAF70-57A8-192C-68E2-DD4E0D56A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170729"/>
              </p:ext>
            </p:extLst>
          </p:nvPr>
        </p:nvGraphicFramePr>
        <p:xfrm>
          <a:off x="8712884" y="1793986"/>
          <a:ext cx="8147326" cy="35522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4143">
                  <a:extLst>
                    <a:ext uri="{9D8B030D-6E8A-4147-A177-3AD203B41FA5}">
                      <a16:colId xmlns:a16="http://schemas.microsoft.com/office/drawing/2014/main" val="2671098457"/>
                    </a:ext>
                  </a:extLst>
                </a:gridCol>
                <a:gridCol w="3743183">
                  <a:extLst>
                    <a:ext uri="{9D8B030D-6E8A-4147-A177-3AD203B41FA5}">
                      <a16:colId xmlns:a16="http://schemas.microsoft.com/office/drawing/2014/main" val="142749699"/>
                    </a:ext>
                  </a:extLst>
                </a:gridCol>
              </a:tblGrid>
              <a:tr h="1776131">
                <a:tc>
                  <a:txBody>
                    <a:bodyPr/>
                    <a:lstStyle/>
                    <a:p>
                      <a:pPr algn="r"/>
                      <a:r>
                        <a:rPr lang="en-IN" sz="3200" b="1" kern="1200" dirty="0">
                          <a:solidFill>
                            <a:schemeClr val="tx1"/>
                          </a:solidFill>
                          <a:effectLst/>
                        </a:rPr>
                        <a:t>30+ Wells</a:t>
                      </a:r>
                    </a:p>
                    <a:p>
                      <a:pPr algn="r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</a:rPr>
                        <a:t>Assam Basin &amp; Volve</a:t>
                      </a:r>
                      <a:endParaRPr lang="en-I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600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3200" b="1" kern="1200" dirty="0">
                          <a:solidFill>
                            <a:schemeClr val="tx1"/>
                          </a:solidFill>
                          <a:effectLst/>
                        </a:rPr>
                        <a:t>&lt; 2s Latency</a:t>
                      </a:r>
                    </a:p>
                    <a:p>
                      <a:pPr algn="r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</a:rPr>
                        <a:t>Realtime CDC </a:t>
                      </a:r>
                      <a:r>
                        <a:rPr lang="en-IN" sz="1600" b="0" kern="1200" dirty="0" err="1">
                          <a:solidFill>
                            <a:schemeClr val="tx1"/>
                          </a:solidFill>
                          <a:effectLst/>
                        </a:rPr>
                        <a:t>WebSockets</a:t>
                      </a:r>
                      <a:endParaRPr lang="en-I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600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731246"/>
                  </a:ext>
                </a:extLst>
              </a:tr>
              <a:tr h="1776131">
                <a:tc>
                  <a:txBody>
                    <a:bodyPr/>
                    <a:lstStyle/>
                    <a:p>
                      <a:pPr algn="r"/>
                      <a:r>
                        <a:rPr lang="en-IN" sz="3200" b="1" kern="1200" dirty="0">
                          <a:solidFill>
                            <a:schemeClr val="tx1"/>
                          </a:solidFill>
                          <a:effectLst/>
                        </a:rPr>
                        <a:t>100% </a:t>
                      </a:r>
                      <a:r>
                        <a:rPr lang="en-IN" sz="3200" b="1" kern="1200" dirty="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endParaRPr lang="en-IN" sz="3200" b="1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r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</a:rPr>
                        <a:t>3D Spatial Offsets</a:t>
                      </a:r>
                      <a:endParaRPr lang="en-IN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600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3200" b="1" kern="1200" dirty="0">
                          <a:solidFill>
                            <a:schemeClr val="tx1"/>
                          </a:solidFill>
                          <a:effectLst/>
                        </a:rPr>
                        <a:t>5 Models</a:t>
                      </a:r>
                    </a:p>
                    <a:p>
                      <a:pPr algn="r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</a:rPr>
                        <a:t>Calibrated Hazard Engines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600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980917"/>
                  </a:ext>
                </a:extLst>
              </a:tr>
            </a:tbl>
          </a:graphicData>
        </a:graphic>
      </p:graphicFrame>
      <p:pic>
        <p:nvPicPr>
          <p:cNvPr id="38" name="Picture 37" descr="990+ Oil Well Icon Illustrations - iStock">
            <a:extLst>
              <a:ext uri="{FF2B5EF4-FFF2-40B4-BE49-F238E27FC236}">
                <a16:creationId xmlns:a16="http://schemas.microsoft.com/office/drawing/2014/main" id="{AF866648-D359-38B5-6619-27CEEBF65E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796" r="12796"/>
          <a:stretch>
            <a:fillRect/>
          </a:stretch>
        </p:blipFill>
        <p:spPr>
          <a:xfrm>
            <a:off x="9011612" y="1908501"/>
            <a:ext cx="1495424" cy="1409700"/>
          </a:xfrm>
          <a:prstGeom prst="rect">
            <a:avLst/>
          </a:prstGeom>
        </p:spPr>
      </p:pic>
      <p:pic>
        <p:nvPicPr>
          <p:cNvPr id="40" name="Picture 39" descr="Latency - Free time and date icons">
            <a:extLst>
              <a:ext uri="{FF2B5EF4-FFF2-40B4-BE49-F238E27FC236}">
                <a16:creationId xmlns:a16="http://schemas.microsoft.com/office/drawing/2014/main" id="{BD58FE71-2D0F-1BEB-7182-91269852B8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03902" y="2078677"/>
            <a:ext cx="1097898" cy="1097898"/>
          </a:xfrm>
          <a:prstGeom prst="rect">
            <a:avLst/>
          </a:prstGeom>
        </p:spPr>
      </p:pic>
      <p:pic>
        <p:nvPicPr>
          <p:cNvPr id="41" name="Picture 40" descr="AI Algorithm Model Solid Style Icon 66503352 Vector Art at Vecteezy">
            <a:extLst>
              <a:ext uri="{FF2B5EF4-FFF2-40B4-BE49-F238E27FC236}">
                <a16:creationId xmlns:a16="http://schemas.microsoft.com/office/drawing/2014/main" id="{82AE05D5-03DC-C4E9-F3B9-47323E8211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03901" y="3842322"/>
            <a:ext cx="1097899" cy="10978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144" y="9525000"/>
            <a:ext cx="18302288" cy="769144"/>
            <a:chOff x="0" y="0"/>
            <a:chExt cx="24403050" cy="1025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3050" cy="1025525"/>
            </a:xfrm>
            <a:custGeom>
              <a:avLst/>
              <a:gdLst/>
              <a:ahLst/>
              <a:cxnLst/>
              <a:rect l="l" t="t" r="r" b="b"/>
              <a:pathLst>
                <a:path w="24403050" h="1025525">
                  <a:moveTo>
                    <a:pt x="0" y="0"/>
                  </a:moveTo>
                  <a:lnTo>
                    <a:pt x="24403050" y="0"/>
                  </a:lnTo>
                  <a:lnTo>
                    <a:pt x="24403050" y="1025525"/>
                  </a:lnTo>
                  <a:lnTo>
                    <a:pt x="0" y="1025525"/>
                  </a:lnTo>
                  <a:close/>
                </a:path>
              </a:pathLst>
            </a:custGeom>
            <a:solidFill>
              <a:srgbClr val="0070C0"/>
            </a:solidFill>
            <a:ln w="14288" cap="sq">
              <a:solidFill>
                <a:srgbClr val="0070C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515345" y="1326659"/>
            <a:ext cx="5724991" cy="5407651"/>
            <a:chOff x="0" y="0"/>
            <a:chExt cx="8280908" cy="7821892"/>
          </a:xfrm>
        </p:grpSpPr>
        <p:sp>
          <p:nvSpPr>
            <p:cNvPr id="5" name="Freeform 5"/>
            <p:cNvSpPr/>
            <p:nvPr/>
          </p:nvSpPr>
          <p:spPr>
            <a:xfrm>
              <a:off x="6952869" y="1067816"/>
              <a:ext cx="1328040" cy="5686298"/>
            </a:xfrm>
            <a:custGeom>
              <a:avLst/>
              <a:gdLst/>
              <a:ahLst/>
              <a:cxnLst/>
              <a:rect l="l" t="t" r="r" b="b"/>
              <a:pathLst>
                <a:path w="1328040" h="5686298">
                  <a:moveTo>
                    <a:pt x="30734" y="0"/>
                  </a:moveTo>
                  <a:cubicBezTo>
                    <a:pt x="858774" y="738759"/>
                    <a:pt x="1328039" y="1767205"/>
                    <a:pt x="1328039" y="2843149"/>
                  </a:cubicBezTo>
                  <a:cubicBezTo>
                    <a:pt x="1328039" y="3919093"/>
                    <a:pt x="858774" y="4947412"/>
                    <a:pt x="30734" y="5686298"/>
                  </a:cubicBezTo>
                  <a:lnTo>
                    <a:pt x="0" y="5655564"/>
                  </a:lnTo>
                  <a:cubicBezTo>
                    <a:pt x="819912" y="4924933"/>
                    <a:pt x="1284605" y="3907536"/>
                    <a:pt x="1284605" y="2843149"/>
                  </a:cubicBezTo>
                  <a:cubicBezTo>
                    <a:pt x="1284605" y="1778762"/>
                    <a:pt x="819912" y="761365"/>
                    <a:pt x="0" y="307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67454" t="-18778" r="-443910" b="-18778"/>
              </a:stretch>
            </a:blipFill>
            <a:ln w="38100" cap="sq">
              <a:solidFill>
                <a:srgbClr val="3D6696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0000" b="-43000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21945600" cy="240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AND BENEFITS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Falcons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738733" y="-158367"/>
            <a:ext cx="3256443" cy="1537630"/>
            <a:chOff x="0" y="0"/>
            <a:chExt cx="4499699" cy="212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9761" y="1855513"/>
            <a:ext cx="7468286" cy="431063"/>
            <a:chOff x="0" y="0"/>
            <a:chExt cx="9957714" cy="5747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57674" cy="574802"/>
            </a:xfrm>
            <a:custGeom>
              <a:avLst/>
              <a:gdLst/>
              <a:ahLst/>
              <a:cxnLst/>
              <a:rect l="l" t="t" r="r" b="b"/>
              <a:pathLst>
                <a:path w="9957674" h="574802">
                  <a:moveTo>
                    <a:pt x="0" y="0"/>
                  </a:moveTo>
                  <a:lnTo>
                    <a:pt x="9957674" y="0"/>
                  </a:lnTo>
                  <a:lnTo>
                    <a:pt x="9957674" y="574802"/>
                  </a:lnTo>
                  <a:lnTo>
                    <a:pt x="0" y="574802"/>
                  </a:lnTo>
                  <a:close/>
                </a:path>
              </a:pathLst>
            </a:custGeom>
            <a:solidFill>
              <a:srgbClr val="4F81B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5954" y="1806388"/>
            <a:ext cx="560375" cy="529314"/>
            <a:chOff x="0" y="0"/>
            <a:chExt cx="747166" cy="7057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7141" cy="705739"/>
            </a:xfrm>
            <a:custGeom>
              <a:avLst/>
              <a:gdLst/>
              <a:ahLst/>
              <a:cxnLst/>
              <a:rect l="l" t="t" r="r" b="b"/>
              <a:pathLst>
                <a:path w="747141" h="705739">
                  <a:moveTo>
                    <a:pt x="0" y="352933"/>
                  </a:moveTo>
                  <a:cubicBezTo>
                    <a:pt x="0" y="157988"/>
                    <a:pt x="167259" y="0"/>
                    <a:pt x="373634" y="0"/>
                  </a:cubicBezTo>
                  <a:cubicBezTo>
                    <a:pt x="580009" y="0"/>
                    <a:pt x="747141" y="157988"/>
                    <a:pt x="747141" y="352933"/>
                  </a:cubicBezTo>
                  <a:cubicBezTo>
                    <a:pt x="747141" y="547878"/>
                    <a:pt x="579882" y="705739"/>
                    <a:pt x="373634" y="705739"/>
                  </a:cubicBezTo>
                  <a:cubicBezTo>
                    <a:pt x="167386" y="705739"/>
                    <a:pt x="0" y="547751"/>
                    <a:pt x="0" y="3529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1B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729780" y="2548000"/>
            <a:ext cx="7028267" cy="480193"/>
            <a:chOff x="0" y="0"/>
            <a:chExt cx="9371022" cy="6402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370968" cy="640309"/>
            </a:xfrm>
            <a:custGeom>
              <a:avLst/>
              <a:gdLst/>
              <a:ahLst/>
              <a:cxnLst/>
              <a:rect l="l" t="t" r="r" b="b"/>
              <a:pathLst>
                <a:path w="9370968" h="640309">
                  <a:moveTo>
                    <a:pt x="0" y="0"/>
                  </a:moveTo>
                  <a:lnTo>
                    <a:pt x="9370968" y="0"/>
                  </a:lnTo>
                  <a:lnTo>
                    <a:pt x="9370968" y="640309"/>
                  </a:lnTo>
                  <a:lnTo>
                    <a:pt x="0" y="640309"/>
                  </a:lnTo>
                  <a:close/>
                </a:path>
              </a:pathLst>
            </a:custGeom>
            <a:solidFill>
              <a:srgbClr val="4F81B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16891" y="5240422"/>
            <a:ext cx="6843684" cy="431063"/>
            <a:chOff x="0" y="0"/>
            <a:chExt cx="9124912" cy="5747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24911" cy="574750"/>
            </a:xfrm>
            <a:custGeom>
              <a:avLst/>
              <a:gdLst/>
              <a:ahLst/>
              <a:cxnLst/>
              <a:rect l="l" t="t" r="r" b="b"/>
              <a:pathLst>
                <a:path w="9124911" h="574750">
                  <a:moveTo>
                    <a:pt x="0" y="0"/>
                  </a:moveTo>
                  <a:lnTo>
                    <a:pt x="9124911" y="0"/>
                  </a:lnTo>
                  <a:lnTo>
                    <a:pt x="9124911" y="574750"/>
                  </a:lnTo>
                  <a:lnTo>
                    <a:pt x="0" y="574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476" r="4484" b="-24547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9124912" cy="584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98"/>
                </a:lnSpc>
              </a:pPr>
              <a:r>
                <a:rPr lang="en-US" sz="18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Planning Teams: Offset-based risk assessment before drilling.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01253" y="2498879"/>
            <a:ext cx="560375" cy="529314"/>
            <a:chOff x="0" y="0"/>
            <a:chExt cx="747166" cy="705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47141" cy="705739"/>
            </a:xfrm>
            <a:custGeom>
              <a:avLst/>
              <a:gdLst/>
              <a:ahLst/>
              <a:cxnLst/>
              <a:rect l="l" t="t" r="r" b="b"/>
              <a:pathLst>
                <a:path w="747141" h="705739">
                  <a:moveTo>
                    <a:pt x="0" y="352933"/>
                  </a:moveTo>
                  <a:cubicBezTo>
                    <a:pt x="0" y="157988"/>
                    <a:pt x="167259" y="0"/>
                    <a:pt x="373634" y="0"/>
                  </a:cubicBezTo>
                  <a:cubicBezTo>
                    <a:pt x="580009" y="0"/>
                    <a:pt x="747141" y="157988"/>
                    <a:pt x="747141" y="352933"/>
                  </a:cubicBezTo>
                  <a:cubicBezTo>
                    <a:pt x="747141" y="547878"/>
                    <a:pt x="579882" y="705739"/>
                    <a:pt x="373634" y="705739"/>
                  </a:cubicBezTo>
                  <a:cubicBezTo>
                    <a:pt x="167386" y="705739"/>
                    <a:pt x="0" y="547751"/>
                    <a:pt x="0" y="3529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1B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75605" y="3305918"/>
            <a:ext cx="6682441" cy="431063"/>
            <a:chOff x="0" y="0"/>
            <a:chExt cx="8909922" cy="5747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09972" cy="574802"/>
            </a:xfrm>
            <a:custGeom>
              <a:avLst/>
              <a:gdLst/>
              <a:ahLst/>
              <a:cxnLst/>
              <a:rect l="l" t="t" r="r" b="b"/>
              <a:pathLst>
                <a:path w="8909972" h="574802">
                  <a:moveTo>
                    <a:pt x="0" y="0"/>
                  </a:moveTo>
                  <a:lnTo>
                    <a:pt x="8909972" y="0"/>
                  </a:lnTo>
                  <a:lnTo>
                    <a:pt x="8909972" y="574802"/>
                  </a:lnTo>
                  <a:lnTo>
                    <a:pt x="0" y="574802"/>
                  </a:lnTo>
                  <a:close/>
                </a:path>
              </a:pathLst>
            </a:custGeom>
            <a:solidFill>
              <a:srgbClr val="4F81B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729780" y="3256793"/>
            <a:ext cx="560375" cy="529314"/>
            <a:chOff x="0" y="0"/>
            <a:chExt cx="747166" cy="7057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7141" cy="705739"/>
            </a:xfrm>
            <a:custGeom>
              <a:avLst/>
              <a:gdLst/>
              <a:ahLst/>
              <a:cxnLst/>
              <a:rect l="l" t="t" r="r" b="b"/>
              <a:pathLst>
                <a:path w="747141" h="705739">
                  <a:moveTo>
                    <a:pt x="0" y="352933"/>
                  </a:moveTo>
                  <a:cubicBezTo>
                    <a:pt x="0" y="157988"/>
                    <a:pt x="167259" y="0"/>
                    <a:pt x="373634" y="0"/>
                  </a:cubicBezTo>
                  <a:cubicBezTo>
                    <a:pt x="580009" y="0"/>
                    <a:pt x="747141" y="157988"/>
                    <a:pt x="747141" y="352933"/>
                  </a:cubicBezTo>
                  <a:cubicBezTo>
                    <a:pt x="747141" y="547878"/>
                    <a:pt x="579882" y="705739"/>
                    <a:pt x="373634" y="705739"/>
                  </a:cubicBezTo>
                  <a:cubicBezTo>
                    <a:pt x="167386" y="705739"/>
                    <a:pt x="0" y="547751"/>
                    <a:pt x="0" y="3529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1B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141537" y="4030485"/>
            <a:ext cx="6616509" cy="431063"/>
            <a:chOff x="0" y="0"/>
            <a:chExt cx="8822012" cy="5747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821958" cy="574802"/>
            </a:xfrm>
            <a:custGeom>
              <a:avLst/>
              <a:gdLst/>
              <a:ahLst/>
              <a:cxnLst/>
              <a:rect l="l" t="t" r="r" b="b"/>
              <a:pathLst>
                <a:path w="8821958" h="574802">
                  <a:moveTo>
                    <a:pt x="0" y="0"/>
                  </a:moveTo>
                  <a:lnTo>
                    <a:pt x="8821958" y="0"/>
                  </a:lnTo>
                  <a:lnTo>
                    <a:pt x="8821958" y="574802"/>
                  </a:lnTo>
                  <a:lnTo>
                    <a:pt x="0" y="574802"/>
                  </a:lnTo>
                  <a:close/>
                </a:path>
              </a:pathLst>
            </a:custGeom>
            <a:solidFill>
              <a:srgbClr val="4F81B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756517" y="3981360"/>
            <a:ext cx="560375" cy="529314"/>
            <a:chOff x="0" y="0"/>
            <a:chExt cx="747166" cy="7057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47141" cy="705739"/>
            </a:xfrm>
            <a:custGeom>
              <a:avLst/>
              <a:gdLst/>
              <a:ahLst/>
              <a:cxnLst/>
              <a:rect l="l" t="t" r="r" b="b"/>
              <a:pathLst>
                <a:path w="747141" h="705739">
                  <a:moveTo>
                    <a:pt x="0" y="352933"/>
                  </a:moveTo>
                  <a:cubicBezTo>
                    <a:pt x="0" y="157988"/>
                    <a:pt x="167259" y="0"/>
                    <a:pt x="373634" y="0"/>
                  </a:cubicBezTo>
                  <a:cubicBezTo>
                    <a:pt x="580009" y="0"/>
                    <a:pt x="747141" y="157988"/>
                    <a:pt x="747141" y="352933"/>
                  </a:cubicBezTo>
                  <a:cubicBezTo>
                    <a:pt x="747141" y="547878"/>
                    <a:pt x="579882" y="705739"/>
                    <a:pt x="373634" y="705739"/>
                  </a:cubicBezTo>
                  <a:cubicBezTo>
                    <a:pt x="167386" y="705739"/>
                    <a:pt x="0" y="547751"/>
                    <a:pt x="0" y="3529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1B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61628" y="4741031"/>
            <a:ext cx="6796418" cy="431063"/>
            <a:chOff x="0" y="0"/>
            <a:chExt cx="9061891" cy="57475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061941" cy="574802"/>
            </a:xfrm>
            <a:custGeom>
              <a:avLst/>
              <a:gdLst/>
              <a:ahLst/>
              <a:cxnLst/>
              <a:rect l="l" t="t" r="r" b="b"/>
              <a:pathLst>
                <a:path w="9061941" h="574802">
                  <a:moveTo>
                    <a:pt x="0" y="0"/>
                  </a:moveTo>
                  <a:lnTo>
                    <a:pt x="9061941" y="0"/>
                  </a:lnTo>
                  <a:lnTo>
                    <a:pt x="9061941" y="574802"/>
                  </a:lnTo>
                  <a:lnTo>
                    <a:pt x="0" y="574802"/>
                  </a:lnTo>
                  <a:close/>
                </a:path>
              </a:pathLst>
            </a:custGeom>
            <a:solidFill>
              <a:srgbClr val="4F81B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589759" y="4691906"/>
            <a:ext cx="560375" cy="529314"/>
            <a:chOff x="0" y="0"/>
            <a:chExt cx="747166" cy="70575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47141" cy="705739"/>
            </a:xfrm>
            <a:custGeom>
              <a:avLst/>
              <a:gdLst/>
              <a:ahLst/>
              <a:cxnLst/>
              <a:rect l="l" t="t" r="r" b="b"/>
              <a:pathLst>
                <a:path w="747141" h="705739">
                  <a:moveTo>
                    <a:pt x="0" y="352933"/>
                  </a:moveTo>
                  <a:cubicBezTo>
                    <a:pt x="0" y="157988"/>
                    <a:pt x="167259" y="0"/>
                    <a:pt x="373634" y="0"/>
                  </a:cubicBezTo>
                  <a:cubicBezTo>
                    <a:pt x="580009" y="0"/>
                    <a:pt x="747141" y="157988"/>
                    <a:pt x="747141" y="352933"/>
                  </a:cubicBezTo>
                  <a:cubicBezTo>
                    <a:pt x="747141" y="547878"/>
                    <a:pt x="579882" y="705739"/>
                    <a:pt x="373634" y="705739"/>
                  </a:cubicBezTo>
                  <a:cubicBezTo>
                    <a:pt x="167386" y="705739"/>
                    <a:pt x="0" y="547751"/>
                    <a:pt x="0" y="3529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1B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32520" y="5457751"/>
            <a:ext cx="560375" cy="529314"/>
            <a:chOff x="0" y="0"/>
            <a:chExt cx="747166" cy="705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47141" cy="705739"/>
            </a:xfrm>
            <a:custGeom>
              <a:avLst/>
              <a:gdLst/>
              <a:ahLst/>
              <a:cxnLst/>
              <a:rect l="l" t="t" r="r" b="b"/>
              <a:pathLst>
                <a:path w="747141" h="705739">
                  <a:moveTo>
                    <a:pt x="0" y="352933"/>
                  </a:moveTo>
                  <a:cubicBezTo>
                    <a:pt x="0" y="157988"/>
                    <a:pt x="167259" y="0"/>
                    <a:pt x="373634" y="0"/>
                  </a:cubicBezTo>
                  <a:cubicBezTo>
                    <a:pt x="580009" y="0"/>
                    <a:pt x="747141" y="157988"/>
                    <a:pt x="747141" y="352933"/>
                  </a:cubicBezTo>
                  <a:cubicBezTo>
                    <a:pt x="747141" y="547878"/>
                    <a:pt x="579882" y="705739"/>
                    <a:pt x="373634" y="705739"/>
                  </a:cubicBezTo>
                  <a:cubicBezTo>
                    <a:pt x="167386" y="705739"/>
                    <a:pt x="0" y="547751"/>
                    <a:pt x="0" y="35293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1B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75612" y="359321"/>
            <a:ext cx="2215201" cy="1249099"/>
            <a:chOff x="0" y="0"/>
            <a:chExt cx="2953601" cy="1665465"/>
          </a:xfrm>
        </p:grpSpPr>
        <p:sp>
          <p:nvSpPr>
            <p:cNvPr id="46" name="Freeform 46" descr="Your startup LOGO"/>
            <p:cNvSpPr/>
            <p:nvPr/>
          </p:nvSpPr>
          <p:spPr>
            <a:xfrm>
              <a:off x="0" y="0"/>
              <a:ext cx="2953639" cy="1665478"/>
            </a:xfrm>
            <a:custGeom>
              <a:avLst/>
              <a:gdLst/>
              <a:ahLst/>
              <a:cxnLst/>
              <a:rect l="l" t="t" r="r" b="b"/>
              <a:pathLst>
                <a:path w="2953639" h="1665478">
                  <a:moveTo>
                    <a:pt x="0" y="832739"/>
                  </a:moveTo>
                  <a:cubicBezTo>
                    <a:pt x="0" y="372872"/>
                    <a:pt x="661162" y="0"/>
                    <a:pt x="1476756" y="0"/>
                  </a:cubicBezTo>
                  <a:cubicBezTo>
                    <a:pt x="2292350" y="0"/>
                    <a:pt x="2953639" y="372872"/>
                    <a:pt x="2953639" y="832739"/>
                  </a:cubicBezTo>
                  <a:cubicBezTo>
                    <a:pt x="2953639" y="1292606"/>
                    <a:pt x="2292477" y="1665478"/>
                    <a:pt x="1476883" y="1665478"/>
                  </a:cubicBezTo>
                  <a:cubicBezTo>
                    <a:pt x="66128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2953601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Faltantra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051918" y="1551865"/>
            <a:ext cx="1540167" cy="2184230"/>
            <a:chOff x="-2754" y="-53284"/>
            <a:chExt cx="619045" cy="87791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16291" cy="824632"/>
            </a:xfrm>
            <a:custGeom>
              <a:avLst/>
              <a:gdLst/>
              <a:ahLst/>
              <a:cxnLst/>
              <a:rect l="l" t="t" r="r" b="b"/>
              <a:pathLst>
                <a:path w="616291" h="824632">
                  <a:moveTo>
                    <a:pt x="616291" y="0"/>
                  </a:moveTo>
                  <a:lnTo>
                    <a:pt x="616291" y="710332"/>
                  </a:lnTo>
                  <a:lnTo>
                    <a:pt x="308145" y="824632"/>
                  </a:lnTo>
                  <a:lnTo>
                    <a:pt x="0" y="710332"/>
                  </a:lnTo>
                  <a:lnTo>
                    <a:pt x="0" y="0"/>
                  </a:lnTo>
                  <a:lnTo>
                    <a:pt x="616291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-2754" y="-53284"/>
              <a:ext cx="616291" cy="767482"/>
            </a:xfrm>
            <a:prstGeom prst="rect">
              <a:avLst/>
            </a:prstGeom>
          </p:spPr>
          <p:txBody>
            <a:bodyPr lIns="63500" tIns="63500" rIns="63500" bIns="63500" rtlCol="0" anchor="ctr"/>
            <a:lstStyle/>
            <a:p>
              <a:pPr algn="ctr">
                <a:lnSpc>
                  <a:spcPts val="2208"/>
                </a:lnSpc>
              </a:pPr>
              <a:r>
                <a:rPr lang="en-US" sz="1600" b="1" spc="59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Unified Well Intelligence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Connects nearby wells, depths , formation and drilling events</a:t>
              </a:r>
              <a:r>
                <a:rPr lang="en-US" sz="15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47725" y="3771997"/>
            <a:ext cx="1473898" cy="2157523"/>
            <a:chOff x="0" y="43600"/>
            <a:chExt cx="641371" cy="886002"/>
          </a:xfrm>
        </p:grpSpPr>
        <p:sp>
          <p:nvSpPr>
            <p:cNvPr id="52" name="Freeform 52"/>
            <p:cNvSpPr/>
            <p:nvPr/>
          </p:nvSpPr>
          <p:spPr>
            <a:xfrm>
              <a:off x="3423" y="44269"/>
              <a:ext cx="637948" cy="885333"/>
            </a:xfrm>
            <a:custGeom>
              <a:avLst/>
              <a:gdLst/>
              <a:ahLst/>
              <a:cxnLst/>
              <a:rect l="l" t="t" r="r" b="b"/>
              <a:pathLst>
                <a:path w="637948" h="885333">
                  <a:moveTo>
                    <a:pt x="637948" y="0"/>
                  </a:moveTo>
                  <a:lnTo>
                    <a:pt x="637948" y="771033"/>
                  </a:lnTo>
                  <a:lnTo>
                    <a:pt x="318974" y="885333"/>
                  </a:lnTo>
                  <a:lnTo>
                    <a:pt x="0" y="771033"/>
                  </a:lnTo>
                  <a:lnTo>
                    <a:pt x="0" y="0"/>
                  </a:lnTo>
                  <a:lnTo>
                    <a:pt x="637948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43600"/>
              <a:ext cx="637948" cy="799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Proactive Risk Awareness</a:t>
              </a:r>
            </a:p>
            <a:p>
              <a:pPr algn="ctr">
                <a:lnSpc>
                  <a:spcPts val="1800"/>
                </a:lnSpc>
              </a:pPr>
              <a:r>
                <a:rPr lang="en-US" sz="14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Identifes</a:t>
              </a:r>
              <a:r>
                <a:rPr lang="en-US" sz="14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potential </a:t>
              </a:r>
              <a:r>
                <a:rPr lang="en-US" sz="14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drillong</a:t>
              </a:r>
              <a:r>
                <a:rPr lang="en-US" sz="14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risks before reaching critical zones 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28886" y="3653322"/>
            <a:ext cx="1496014" cy="2276198"/>
            <a:chOff x="-3128" y="-28575"/>
            <a:chExt cx="594940" cy="856906"/>
          </a:xfrm>
        </p:grpSpPr>
        <p:sp>
          <p:nvSpPr>
            <p:cNvPr id="55" name="Freeform 55"/>
            <p:cNvSpPr/>
            <p:nvPr/>
          </p:nvSpPr>
          <p:spPr>
            <a:xfrm>
              <a:off x="-3128" y="15531"/>
              <a:ext cx="591812" cy="812800"/>
            </a:xfrm>
            <a:custGeom>
              <a:avLst/>
              <a:gdLst/>
              <a:ahLst/>
              <a:cxnLst/>
              <a:rect l="l" t="t" r="r" b="b"/>
              <a:pathLst>
                <a:path w="591812" h="812800">
                  <a:moveTo>
                    <a:pt x="591812" y="0"/>
                  </a:moveTo>
                  <a:lnTo>
                    <a:pt x="591812" y="698500"/>
                  </a:lnTo>
                  <a:lnTo>
                    <a:pt x="295906" y="812800"/>
                  </a:lnTo>
                  <a:lnTo>
                    <a:pt x="0" y="698500"/>
                  </a:lnTo>
                  <a:lnTo>
                    <a:pt x="0" y="0"/>
                  </a:lnTo>
                  <a:lnTo>
                    <a:pt x="591812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591812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Institutional Memory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Preserves drilling knowledge and makes it </a:t>
              </a:r>
              <a:r>
                <a:rPr lang="en-US" sz="15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avilable</a:t>
              </a: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across teams 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8987" y="1579605"/>
            <a:ext cx="1470384" cy="2149207"/>
            <a:chOff x="9360" y="-34858"/>
            <a:chExt cx="588782" cy="860602"/>
          </a:xfrm>
        </p:grpSpPr>
        <p:sp>
          <p:nvSpPr>
            <p:cNvPr id="58" name="Freeform 58"/>
            <p:cNvSpPr/>
            <p:nvPr/>
          </p:nvSpPr>
          <p:spPr>
            <a:xfrm>
              <a:off x="9971" y="10034"/>
              <a:ext cx="588171" cy="815710"/>
            </a:xfrm>
            <a:custGeom>
              <a:avLst/>
              <a:gdLst/>
              <a:ahLst/>
              <a:cxnLst/>
              <a:rect l="l" t="t" r="r" b="b"/>
              <a:pathLst>
                <a:path w="588171" h="815710">
                  <a:moveTo>
                    <a:pt x="588171" y="0"/>
                  </a:moveTo>
                  <a:lnTo>
                    <a:pt x="588171" y="701410"/>
                  </a:lnTo>
                  <a:lnTo>
                    <a:pt x="294086" y="815710"/>
                  </a:lnTo>
                  <a:lnTo>
                    <a:pt x="0" y="701410"/>
                  </a:lnTo>
                  <a:lnTo>
                    <a:pt x="0" y="0"/>
                  </a:lnTo>
                  <a:lnTo>
                    <a:pt x="588171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60" y="-34858"/>
              <a:ext cx="588171" cy="720460"/>
            </a:xfrm>
            <a:prstGeom prst="rect">
              <a:avLst/>
            </a:prstGeom>
          </p:spPr>
          <p:txBody>
            <a:bodyPr lIns="88900" tIns="88900" rIns="88900" bIns="88900" rtlCol="0" anchor="ctr"/>
            <a:lstStyle/>
            <a:p>
              <a:pPr algn="ctr">
                <a:lnSpc>
                  <a:spcPts val="1856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Faster Decision Making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access to historical well </a:t>
              </a:r>
              <a:r>
                <a:rPr lang="en-US" sz="15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experiances</a:t>
              </a: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and lessons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2655399" y="3771156"/>
            <a:ext cx="1505648" cy="2158364"/>
            <a:chOff x="0" y="0"/>
            <a:chExt cx="632770" cy="8589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32770" cy="858952"/>
            </a:xfrm>
            <a:custGeom>
              <a:avLst/>
              <a:gdLst/>
              <a:ahLst/>
              <a:cxnLst/>
              <a:rect l="l" t="t" r="r" b="b"/>
              <a:pathLst>
                <a:path w="632770" h="858952">
                  <a:moveTo>
                    <a:pt x="632770" y="0"/>
                  </a:moveTo>
                  <a:lnTo>
                    <a:pt x="632770" y="744652"/>
                  </a:lnTo>
                  <a:lnTo>
                    <a:pt x="316385" y="858952"/>
                  </a:lnTo>
                  <a:lnTo>
                    <a:pt x="0" y="744652"/>
                  </a:lnTo>
                  <a:lnTo>
                    <a:pt x="0" y="0"/>
                  </a:lnTo>
                  <a:lnTo>
                    <a:pt x="632770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41908"/>
              <a:ext cx="632770" cy="77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Evidence-Based Insights 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14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</a:t>
              </a:r>
              <a:r>
                <a:rPr lang="en-US" sz="14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sourcecited</a:t>
              </a:r>
              <a:r>
                <a:rPr lang="en-US" sz="14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historical evidence for every recommendation </a:t>
              </a:r>
              <a:endParaRPr lang="en-US" sz="15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719848" y="1684434"/>
            <a:ext cx="1452598" cy="2053970"/>
            <a:chOff x="0" y="0"/>
            <a:chExt cx="635000" cy="89788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635000" cy="897889"/>
            </a:xfrm>
            <a:custGeom>
              <a:avLst/>
              <a:gdLst/>
              <a:ahLst/>
              <a:cxnLst/>
              <a:rect l="l" t="t" r="r" b="b"/>
              <a:pathLst>
                <a:path w="635000" h="897889">
                  <a:moveTo>
                    <a:pt x="635000" y="0"/>
                  </a:moveTo>
                  <a:lnTo>
                    <a:pt x="635000" y="783589"/>
                  </a:lnTo>
                  <a:lnTo>
                    <a:pt x="317500" y="897889"/>
                  </a:lnTo>
                  <a:lnTo>
                    <a:pt x="0" y="783589"/>
                  </a:lnTo>
                  <a:lnTo>
                    <a:pt x="0" y="0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C8D1D9"/>
            </a:solidFill>
            <a:ln cap="sq">
              <a:noFill/>
              <a:prstDash val="sysDot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14418"/>
              <a:ext cx="635000" cy="812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2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Reduced Manual Search  </a:t>
              </a:r>
            </a:p>
            <a:p>
              <a:pPr algn="ctr">
                <a:lnSpc>
                  <a:spcPts val="1830"/>
                </a:lnSpc>
              </a:pP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Converts </a:t>
              </a:r>
              <a:r>
                <a:rPr lang="en-US" sz="1500" dirty="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scatteres</a:t>
              </a:r>
              <a:r>
                <a:rPr lang="en-US" sz="15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WCRs  DDRs and PDFs into searchable knowledge.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864157" y="1270949"/>
            <a:ext cx="726608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1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Impact of our Solution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75612" y="5942433"/>
            <a:ext cx="217978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4F81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75612" y="6479221"/>
            <a:ext cx="7601588" cy="2960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880"/>
              </a:lnSpc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Pre-Spud Planning: Predict formation tops and risk-by-depth for planned wells.</a:t>
            </a:r>
          </a:p>
          <a:p>
            <a:pPr marL="342900" indent="-342900" algn="l">
              <a:lnSpc>
                <a:spcPts val="2880"/>
              </a:lnSpc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Learning: Use completed-well outcomes and alert feedback to improve future models.</a:t>
            </a:r>
          </a:p>
          <a:p>
            <a:pPr marL="342900" indent="-342900">
              <a:lnSpc>
                <a:spcPts val="2880"/>
              </a:lnSpc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Expanded Data Integration: Incorporate additional geological, reservoir, drilling and </a:t>
            </a:r>
            <a:r>
              <a:rPr lang="en-US" sz="23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eRTMAC</a:t>
            </a: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data sources.</a:t>
            </a:r>
          </a:p>
          <a:p>
            <a:pPr marL="342900" indent="-342900" algn="l">
              <a:lnSpc>
                <a:spcPts val="2880"/>
              </a:lnSpc>
              <a:buFont typeface="Wingdings" panose="05000000000000000000" pitchFamily="2" charset="2"/>
              <a:buChar char="v"/>
            </a:pPr>
            <a:r>
              <a:rPr lang="en-US" sz="23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Scalable Well Intelligence: Support any well, any depth without a scripted scenario.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896029" y="2597596"/>
            <a:ext cx="681612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RTOC Teams:</a:t>
            </a: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Better monitoring and alert triage for active wells.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41454" y="3330950"/>
            <a:ext cx="595074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Planning Teams: Offset-based risk assessment before drilling</a:t>
            </a:r>
            <a:r>
              <a:rPr lang="en-US" sz="1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589759" y="1880545"/>
            <a:ext cx="708025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Drilling Engineers: Faster access to relevant offset-well experience.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06641" y="4060832"/>
            <a:ext cx="582037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OIL Operations: Centralized institutional drilling knowledge.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371443" y="4765934"/>
            <a:ext cx="597678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 Teams: Structured, searchable historical drilling records.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0426647" y="5556002"/>
            <a:ext cx="7285506" cy="431063"/>
            <a:chOff x="0" y="0"/>
            <a:chExt cx="10118188" cy="574751"/>
          </a:xfrm>
        </p:grpSpPr>
        <p:grpSp>
          <p:nvGrpSpPr>
            <p:cNvPr id="75" name="Group 75"/>
            <p:cNvGrpSpPr/>
            <p:nvPr/>
          </p:nvGrpSpPr>
          <p:grpSpPr>
            <a:xfrm>
              <a:off x="0" y="0"/>
              <a:ext cx="10118188" cy="574751"/>
              <a:chOff x="0" y="0"/>
              <a:chExt cx="10118188" cy="57475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10118147" cy="574802"/>
              </a:xfrm>
              <a:custGeom>
                <a:avLst/>
                <a:gdLst/>
                <a:ahLst/>
                <a:cxnLst/>
                <a:rect l="l" t="t" r="r" b="b"/>
                <a:pathLst>
                  <a:path w="10118147" h="574802">
                    <a:moveTo>
                      <a:pt x="0" y="0"/>
                    </a:moveTo>
                    <a:lnTo>
                      <a:pt x="10118147" y="0"/>
                    </a:lnTo>
                    <a:lnTo>
                      <a:pt x="10118147" y="574802"/>
                    </a:lnTo>
                    <a:lnTo>
                      <a:pt x="0" y="574802"/>
                    </a:lnTo>
                    <a:close/>
                  </a:path>
                </a:pathLst>
              </a:custGeom>
              <a:solidFill>
                <a:srgbClr val="4F81BD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588167" y="117024"/>
              <a:ext cx="9102328" cy="38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Field Engineers: Real-time risk alerts with evidence-backed recommendations.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6463688" y="1393501"/>
            <a:ext cx="4931912" cy="5014193"/>
          </a:xfrm>
          <a:custGeom>
            <a:avLst/>
            <a:gdLst/>
            <a:ahLst/>
            <a:cxnLst/>
            <a:rect l="l" t="t" r="r" b="b"/>
            <a:pathLst>
              <a:path w="5233353" h="5233353">
                <a:moveTo>
                  <a:pt x="0" y="0"/>
                </a:moveTo>
                <a:lnTo>
                  <a:pt x="5233353" y="0"/>
                </a:lnTo>
                <a:lnTo>
                  <a:pt x="5233353" y="5233354"/>
                </a:lnTo>
                <a:lnTo>
                  <a:pt x="0" y="52333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C3E1BF85-1E5B-F425-9210-BF441DF30F5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0505"/>
          <a:stretch>
            <a:fillRect/>
          </a:stretch>
        </p:blipFill>
        <p:spPr>
          <a:xfrm>
            <a:off x="8103771" y="6454580"/>
            <a:ext cx="9891434" cy="2899778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D7B2A0B8-80E3-F529-3AE0-F871119F49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800" y="6510704"/>
            <a:ext cx="9427561" cy="2843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61354" y="126621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14300"/>
              <a:ext cx="21945600" cy="2400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1354" y="1866346"/>
            <a:ext cx="16276320" cy="713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Drilling Data &amp; Standards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IADC DDR Plus: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Standard drilling report codes –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iadc.org/wp-content/uploads/2019/04/DDR-Codes-2-13-2019.pdf"/>
              </a:rPr>
              <a:t>IADC DDR Plus PDF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IADC Daily Drilling Report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Rig states and drilling reporting –</a:t>
            </a:r>
            <a:r>
              <a:rPr lang="en-US" sz="2700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iadc.org/wp-content/uploads/2018/05/IADC-Daily-Drilling-Report_RevA.pdf"/>
              </a:rPr>
              <a:t>IADC Daily Drilling Report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Energistics WITSML: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 well and drilling data exchange –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docs.energistics.org/WITSML/WITSML_TOPICS/WITSML-000-149-0-C-sv2000.html"/>
              </a:rPr>
              <a:t>WITSML Documentation</a:t>
            </a:r>
          </a:p>
          <a:p>
            <a:pPr algn="l">
              <a:lnSpc>
                <a:spcPts val="3240"/>
              </a:lnSpc>
            </a:pPr>
            <a:endParaRPr lang="en-US" sz="27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6" tooltip="https://docs.energistics.org/WITSML/WITSML_TOPICS/WITSML-000-149-0-C-sv2000.html"/>
            </a:endParaRP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AI, OCR &amp; Document Intelligence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Docling OCR: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OCR models for document processing –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7" tooltip="https://deepwiki.com/docling-project/docling/4.1-ocr-models"/>
              </a:rPr>
              <a:t>Docling OCR Models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PDF Table Extraction: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Docling-based PDF processing –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8" tooltip="https://towardsdatascience.com/parse-pdfs-for-rag-locally-with-docling-rich-tables-no-cloud-upload/"/>
              </a:rPr>
              <a:t>Docling PDF Processing Research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Open-Source OCR Comparison: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OCR model evaluation –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modal.com/blog/8-top-open-source-ocr-models-compared"/>
              </a:rPr>
              <a:t>OCR Models Comparison</a:t>
            </a:r>
          </a:p>
          <a:p>
            <a:pPr algn="l">
              <a:lnSpc>
                <a:spcPts val="3240"/>
              </a:lnSpc>
            </a:pPr>
            <a:endParaRPr lang="en-US" sz="27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9" tooltip="https://modal.com/blog/8-top-open-source-ocr-models-compared"/>
            </a:endParaRPr>
          </a:p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Data &amp; Domain References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Volve Drilling Dataset: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WITSML drilling data –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10" tooltip="https://github.com/f0nzie/volve-drilling?utm_source=chatgpt.com"/>
              </a:rPr>
              <a:t>Volve Drilling Dataset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• </a:t>
            </a:r>
            <a:r>
              <a: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Oil India Limited: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Digitalization and eRTMAC – </a:t>
            </a:r>
            <a:r>
              <a:rPr lang="en-US" sz="2700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11" tooltip="https://www.oil-india.com/index.php/digitalfootprint"/>
              </a:rPr>
              <a:t>OIL Digitalization</a:t>
            </a:r>
          </a:p>
          <a:p>
            <a:pPr algn="l">
              <a:lnSpc>
                <a:spcPts val="3240"/>
              </a:lnSpc>
            </a:pPr>
            <a:endParaRPr lang="en-US" sz="27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11" tooltip="https://www.oil-india.com/index.php/digitalfootprint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11" tooltip="https://www.oil-india.com/index.php/digitalfootprint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11" tooltip="https://www.oil-india.com/index.php/digitalfootprint"/>
            </a:endParaRPr>
          </a:p>
          <a:p>
            <a:pPr marL="488632" lvl="1" indent="-244316" algn="l">
              <a:lnSpc>
                <a:spcPts val="3240"/>
              </a:lnSpc>
            </a:pPr>
            <a:endParaRPr lang="en-US" sz="2700" u="sng">
              <a:solidFill>
                <a:srgbClr val="0000FF"/>
              </a:solidFill>
              <a:latin typeface="Calibri (MS)"/>
              <a:ea typeface="Calibri (MS)"/>
              <a:cs typeface="Calibri (MS)"/>
              <a:sym typeface="Calibri (MS)"/>
              <a:hlinkClick r:id="rId11" tooltip="https://www.oil-india.com/index.php/digitalfootprin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Falcons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5612" y="359321"/>
            <a:ext cx="2215201" cy="1249099"/>
            <a:chOff x="0" y="0"/>
            <a:chExt cx="2953601" cy="1665465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953639" cy="1665478"/>
            </a:xfrm>
            <a:custGeom>
              <a:avLst/>
              <a:gdLst/>
              <a:ahLst/>
              <a:cxnLst/>
              <a:rect l="l" t="t" r="r" b="b"/>
              <a:pathLst>
                <a:path w="2953639" h="1665478">
                  <a:moveTo>
                    <a:pt x="0" y="832739"/>
                  </a:moveTo>
                  <a:cubicBezTo>
                    <a:pt x="0" y="372872"/>
                    <a:pt x="661162" y="0"/>
                    <a:pt x="1476756" y="0"/>
                  </a:cubicBezTo>
                  <a:cubicBezTo>
                    <a:pt x="2292350" y="0"/>
                    <a:pt x="2953639" y="372872"/>
                    <a:pt x="2953639" y="832739"/>
                  </a:cubicBezTo>
                  <a:cubicBezTo>
                    <a:pt x="2953639" y="1292606"/>
                    <a:pt x="2292477" y="1665478"/>
                    <a:pt x="1476883" y="1665478"/>
                  </a:cubicBezTo>
                  <a:cubicBezTo>
                    <a:pt x="661289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953601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Faltantra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1122</Words>
  <Application>Microsoft Office PowerPoint</Application>
  <PresentationFormat>Custom</PresentationFormat>
  <Paragraphs>155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Arimo</vt:lpstr>
      <vt:lpstr>IBM Plex Sans</vt:lpstr>
      <vt:lpstr>Calibri (MS)</vt:lpstr>
      <vt:lpstr>Arimo Bold</vt:lpstr>
      <vt:lpstr>Calibri (MS) Bold</vt:lpstr>
      <vt:lpstr>Times New Roman Bold</vt:lpstr>
      <vt:lpstr>Arial</vt:lpstr>
      <vt:lpstr>Wingdings</vt:lpstr>
      <vt:lpstr>Garamond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Faltantra_SIH26173_iTantra.pptx</dc:title>
  <cp:lastModifiedBy>Sarthak Patil</cp:lastModifiedBy>
  <cp:revision>3</cp:revision>
  <dcterms:created xsi:type="dcterms:W3CDTF">2006-08-16T00:00:00Z</dcterms:created>
  <dcterms:modified xsi:type="dcterms:W3CDTF">2026-09-30T12:53:35Z</dcterms:modified>
  <dc:identifier>DAHWjT-W4bk</dc:identifier>
</cp:coreProperties>
</file>